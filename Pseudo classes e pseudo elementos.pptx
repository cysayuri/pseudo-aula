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8" r:id="rId3"/>
    <p:sldId id="259" r:id="rId4"/>
    <p:sldId id="285" r:id="rId5"/>
    <p:sldId id="284" r:id="rId6"/>
    <p:sldId id="286" r:id="rId7"/>
    <p:sldId id="287" r:id="rId8"/>
    <p:sldId id="288" r:id="rId9"/>
    <p:sldId id="265" r:id="rId10"/>
    <p:sldId id="289" r:id="rId11"/>
    <p:sldId id="290" r:id="rId12"/>
    <p:sldId id="291" r:id="rId13"/>
    <p:sldId id="269" r:id="rId14"/>
    <p:sldId id="295" r:id="rId15"/>
    <p:sldId id="292" r:id="rId16"/>
    <p:sldId id="293" r:id="rId17"/>
    <p:sldId id="294" r:id="rId18"/>
    <p:sldId id="274" r:id="rId19"/>
    <p:sldId id="296" r:id="rId20"/>
    <p:sldId id="297" r:id="rId21"/>
    <p:sldId id="300" r:id="rId22"/>
    <p:sldId id="301" r:id="rId23"/>
    <p:sldId id="303" r:id="rId24"/>
    <p:sldId id="302" r:id="rId25"/>
    <p:sldId id="281" r:id="rId26"/>
    <p:sldId id="282" r:id="rId27"/>
    <p:sldId id="283" r:id="rId2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4" roundtripDataSignature="AMtx7mglmyuNyfniZk7EwCREKUJDiL+hg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14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3B152E9-AFB2-458E-BFAF-78D379E83702}">
  <a:tblStyle styleId="{63B152E9-AFB2-458E-BFAF-78D379E8370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83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customschemas.google.com/relationships/presentationmetadata" Target="meta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5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pt-BR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ogo + Black">
  <p:cSld name="Logo + Black">
    <p:bg>
      <p:bgPr>
        <a:solidFill>
          <a:srgbClr val="1A1C1E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3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01700" y="292781"/>
            <a:ext cx="11588600" cy="627243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61366" y="2854782"/>
            <a:ext cx="4269268" cy="114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Logo + Black">
  <p:cSld name="1_Logo + Black">
    <p:bg>
      <p:bgPr>
        <a:solidFill>
          <a:srgbClr val="1A1C1E"/>
        </a:solidFill>
        <a:effectLst/>
      </p:bgPr>
    </p:bg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32"/>
          <p:cNvSpPr txBox="1">
            <a:spLocks noGrp="1"/>
          </p:cNvSpPr>
          <p:nvPr>
            <p:ph type="title"/>
          </p:nvPr>
        </p:nvSpPr>
        <p:spPr>
          <a:xfrm>
            <a:off x="838198" y="3017044"/>
            <a:ext cx="105156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8D8D8"/>
              </a:buClr>
              <a:buSzPts val="4800"/>
              <a:buFont typeface="Arial"/>
              <a:buNone/>
              <a:defRPr sz="4800">
                <a:solidFill>
                  <a:srgbClr val="D8D8D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0" name="Google Shape;30;p3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353799" y="5485606"/>
            <a:ext cx="838201" cy="582612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31;p3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97839" y="364886"/>
            <a:ext cx="1579539" cy="424896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32"/>
          <p:cNvSpPr txBox="1">
            <a:spLocks noGrp="1"/>
          </p:cNvSpPr>
          <p:nvPr>
            <p:ph type="sldNum" idx="12"/>
          </p:nvPr>
        </p:nvSpPr>
        <p:spPr>
          <a:xfrm>
            <a:off x="11353798" y="5594349"/>
            <a:ext cx="83820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pic>
        <p:nvPicPr>
          <p:cNvPr id="33" name="Google Shape;33;p3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19100" y="0"/>
            <a:ext cx="11353798" cy="1685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nteúdo" type="obj">
  <p:cSld name="OBJEC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oogle Shape;35;p3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353799" y="5485606"/>
            <a:ext cx="838201" cy="582612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p33"/>
          <p:cNvSpPr txBox="1">
            <a:spLocks noGrp="1"/>
          </p:cNvSpPr>
          <p:nvPr>
            <p:ph type="title"/>
          </p:nvPr>
        </p:nvSpPr>
        <p:spPr>
          <a:xfrm>
            <a:off x="838200" y="387750"/>
            <a:ext cx="10515600" cy="985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4400"/>
              <a:buFont typeface="Arial"/>
              <a:buNone/>
              <a:defRPr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33"/>
          <p:cNvSpPr txBox="1">
            <a:spLocks noGrp="1"/>
          </p:cNvSpPr>
          <p:nvPr>
            <p:ph type="body" idx="1"/>
          </p:nvPr>
        </p:nvSpPr>
        <p:spPr>
          <a:xfrm>
            <a:off x="838200" y="1493521"/>
            <a:ext cx="10515600" cy="4976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800"/>
              <a:buChar char="•"/>
              <a:defRPr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just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595959"/>
              </a:buClr>
              <a:buSzPts val="2400"/>
              <a:buChar char="•"/>
              <a:defRPr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55600" algn="just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595959"/>
              </a:buClr>
              <a:buSzPts val="2000"/>
              <a:buChar char="•"/>
              <a:defRPr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342900" algn="just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342900" algn="just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38" name="Google Shape;38;p3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17320" y="387750"/>
            <a:ext cx="121148" cy="988023"/>
          </a:xfrm>
          <a:prstGeom prst="rect">
            <a:avLst/>
          </a:prstGeom>
          <a:noFill/>
          <a:ln>
            <a:noFill/>
          </a:ln>
        </p:spPr>
      </p:pic>
      <p:pic>
        <p:nvPicPr>
          <p:cNvPr id="39" name="Google Shape;39;p3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93361" y="145018"/>
            <a:ext cx="1579539" cy="424896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33"/>
          <p:cNvSpPr txBox="1">
            <a:spLocks noGrp="1"/>
          </p:cNvSpPr>
          <p:nvPr>
            <p:ph type="sldNum" idx="12"/>
          </p:nvPr>
        </p:nvSpPr>
        <p:spPr>
          <a:xfrm>
            <a:off x="11353798" y="5594349"/>
            <a:ext cx="83820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beçalho da Seção">
  <p:cSld name="Cabeçalho da Seção">
    <p:bg>
      <p:bgPr>
        <a:solidFill>
          <a:schemeClr val="lt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3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975643"/>
            <a:ext cx="12191999" cy="2906713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34"/>
          <p:cNvSpPr txBox="1">
            <a:spLocks noGrp="1"/>
          </p:cNvSpPr>
          <p:nvPr>
            <p:ph type="title"/>
          </p:nvPr>
        </p:nvSpPr>
        <p:spPr>
          <a:xfrm>
            <a:off x="838199" y="2073528"/>
            <a:ext cx="11183471" cy="1234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8D8D8"/>
              </a:buClr>
              <a:buSzPts val="4000"/>
              <a:buFont typeface="Arial"/>
              <a:buNone/>
              <a:defRPr sz="4000">
                <a:solidFill>
                  <a:srgbClr val="D8D8D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44" name="Google Shape;44;p3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60094" y="2039437"/>
            <a:ext cx="199158" cy="2592933"/>
          </a:xfrm>
          <a:prstGeom prst="rect">
            <a:avLst/>
          </a:prstGeom>
          <a:noFill/>
          <a:ln>
            <a:noFill/>
          </a:ln>
        </p:spPr>
      </p:pic>
      <p:pic>
        <p:nvPicPr>
          <p:cNvPr id="45" name="Google Shape;45;p3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193361" y="145018"/>
            <a:ext cx="1579539" cy="424896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sp>
        <p:nvSpPr>
          <p:cNvPr id="46" name="Google Shape;46;p34"/>
          <p:cNvSpPr txBox="1"/>
          <p:nvPr/>
        </p:nvSpPr>
        <p:spPr>
          <a:xfrm>
            <a:off x="838199" y="3357951"/>
            <a:ext cx="10699378" cy="1234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8D8D8"/>
              </a:buClr>
              <a:buSzPts val="2400"/>
              <a:buFont typeface="Arial"/>
              <a:buNone/>
            </a:pPr>
            <a:r>
              <a:rPr lang="pt-BR" sz="2400" b="1" i="0" u="none" strike="noStrike" cap="none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rPr>
              <a:t>Todos direitos reservados. Reprodução ou divulgação total ou parcial deste documento é expressamente proibido sem o consentimento formal, por escrito, do Professor (autor).</a:t>
            </a:r>
            <a:endParaRPr sz="4800" b="1" i="0" u="none" strike="noStrike" cap="none">
              <a:solidFill>
                <a:srgbClr val="D8D8D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ítulo e Conteúdo">
  <p:cSld name="1_Título e Conteúdo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4400"/>
              <a:buFont typeface="Arial"/>
              <a:buNone/>
              <a:defRPr sz="4400" b="1" i="0" u="none" strike="noStrike" cap="non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2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F7F7F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F7F7F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F7F7F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1A1C1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1A1C1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1A1C1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1A1C1E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1A1C1E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1A1C1E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1A1C1E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1A1C1E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1A1C1E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1A1C1E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1A1C1E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eb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webp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webp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webp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webp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webp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webp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webp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webp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eb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mozilla.org/pt-BR/docs/Web/CSS/Pseudo-classes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developer.mozilla.org/pt-BR/docs/Web/CSS/Pseudo-elements" TargetMode="Externa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"/>
          <p:cNvSpPr txBox="1">
            <a:spLocks noGrp="1"/>
          </p:cNvSpPr>
          <p:nvPr>
            <p:ph type="sldNum" idx="4294967295"/>
          </p:nvPr>
        </p:nvSpPr>
        <p:spPr>
          <a:xfrm>
            <a:off x="11353800" y="5594350"/>
            <a:ext cx="838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pt-BR"/>
              <a:t>1</a:t>
            </a:fld>
            <a:endParaRPr/>
          </a:p>
        </p:txBody>
      </p:sp>
      <p:sp>
        <p:nvSpPr>
          <p:cNvPr id="2" name="Google Shape;57;p2">
            <a:extLst>
              <a:ext uri="{FF2B5EF4-FFF2-40B4-BE49-F238E27FC236}">
                <a16:creationId xmlns:a16="http://schemas.microsoft.com/office/drawing/2014/main" id="{6A8E3583-20CD-B2C0-D805-01DF2E7F47F2}"/>
              </a:ext>
            </a:extLst>
          </p:cNvPr>
          <p:cNvSpPr txBox="1">
            <a:spLocks/>
          </p:cNvSpPr>
          <p:nvPr/>
        </p:nvSpPr>
        <p:spPr>
          <a:xfrm>
            <a:off x="838200" y="5776912"/>
            <a:ext cx="10515600" cy="365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lnSpc>
                <a:spcPct val="90000"/>
              </a:lnSpc>
              <a:buClr>
                <a:srgbClr val="D8D8D8"/>
              </a:buClr>
              <a:buSzPts val="4000"/>
            </a:pPr>
            <a:r>
              <a:rPr lang="pt-BR" dirty="0">
                <a:solidFill>
                  <a:schemeClr val="tx2">
                    <a:lumMod val="90000"/>
                  </a:schemeClr>
                </a:solidFill>
              </a:rPr>
              <a:t>Engenharia de Software</a:t>
            </a:r>
          </a:p>
        </p:txBody>
      </p:sp>
      <p:sp>
        <p:nvSpPr>
          <p:cNvPr id="3" name="Google Shape;58;p2">
            <a:extLst>
              <a:ext uri="{FF2B5EF4-FFF2-40B4-BE49-F238E27FC236}">
                <a16:creationId xmlns:a16="http://schemas.microsoft.com/office/drawing/2014/main" id="{101EB681-1EBE-FFBF-E394-803B6D47A93A}"/>
              </a:ext>
            </a:extLst>
          </p:cNvPr>
          <p:cNvSpPr txBox="1">
            <a:spLocks/>
          </p:cNvSpPr>
          <p:nvPr/>
        </p:nvSpPr>
        <p:spPr>
          <a:xfrm>
            <a:off x="838200" y="6212839"/>
            <a:ext cx="10515600" cy="2845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lnSpc>
                <a:spcPct val="90000"/>
              </a:lnSpc>
              <a:buClr>
                <a:srgbClr val="D8D8D8"/>
              </a:buClr>
              <a:buSzPts val="3600"/>
            </a:pPr>
            <a:r>
              <a:rPr lang="pt-BR" dirty="0">
                <a:solidFill>
                  <a:schemeClr val="tx2">
                    <a:lumMod val="90000"/>
                  </a:schemeClr>
                </a:solidFill>
              </a:rPr>
              <a:t>Front-</a:t>
            </a:r>
            <a:r>
              <a:rPr lang="pt-BR" dirty="0" err="1">
                <a:solidFill>
                  <a:schemeClr val="tx2">
                    <a:lumMod val="90000"/>
                  </a:schemeClr>
                </a:solidFill>
              </a:rPr>
              <a:t>end</a:t>
            </a:r>
            <a:r>
              <a:rPr lang="pt-BR" dirty="0">
                <a:solidFill>
                  <a:schemeClr val="tx2">
                    <a:lumMod val="90000"/>
                  </a:schemeClr>
                </a:solidFill>
              </a:rPr>
              <a:t> Design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>
            <a:extLst>
              <a:ext uri="{FF2B5EF4-FFF2-40B4-BE49-F238E27FC236}">
                <a16:creationId xmlns:a16="http://schemas.microsoft.com/office/drawing/2014/main" id="{A7199026-5003-32A9-5A4F-BF02DE3DF0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-128588" y="0"/>
            <a:ext cx="11901487" cy="6858000"/>
          </a:xfrm>
          <a:prstGeom prst="rect">
            <a:avLst/>
          </a:prstGeom>
          <a:scene3d>
            <a:camera prst="orthographicFront">
              <a:rot lat="0" lon="0" rev="0"/>
            </a:camera>
            <a:lightRig rig="threePt" dir="t"/>
          </a:scene3d>
        </p:spPr>
      </p:pic>
      <p:sp>
        <p:nvSpPr>
          <p:cNvPr id="65" name="Google Shape;65;p3"/>
          <p:cNvSpPr txBox="1">
            <a:spLocks noGrp="1"/>
          </p:cNvSpPr>
          <p:nvPr>
            <p:ph type="title"/>
          </p:nvPr>
        </p:nvSpPr>
        <p:spPr>
          <a:xfrm>
            <a:off x="838198" y="3017044"/>
            <a:ext cx="105156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8D8D8"/>
              </a:buClr>
              <a:buSzPct val="100000"/>
              <a:buFont typeface="Arial"/>
              <a:buNone/>
            </a:pPr>
            <a:r>
              <a:rPr lang="pt-BR" dirty="0" err="1">
                <a:solidFill>
                  <a:schemeClr val="tx2">
                    <a:lumMod val="90000"/>
                  </a:schemeClr>
                </a:solidFill>
              </a:rPr>
              <a:t>Pseudo-classes</a:t>
            </a:r>
            <a:r>
              <a:rPr lang="pt-BR" dirty="0">
                <a:solidFill>
                  <a:schemeClr val="tx2">
                    <a:lumMod val="90000"/>
                  </a:schemeClr>
                </a:solidFill>
              </a:rPr>
              <a:t> e </a:t>
            </a:r>
            <a:r>
              <a:rPr lang="pt-BR" dirty="0" err="1">
                <a:solidFill>
                  <a:schemeClr val="tx2">
                    <a:lumMod val="90000"/>
                  </a:schemeClr>
                </a:solidFill>
              </a:rPr>
              <a:t>Pseudo-elementos</a:t>
            </a:r>
            <a:endParaRPr dirty="0">
              <a:solidFill>
                <a:schemeClr val="tx2">
                  <a:lumMod val="90000"/>
                </a:schemeClr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"/>
          <p:cNvSpPr txBox="1"/>
          <p:nvPr/>
        </p:nvSpPr>
        <p:spPr>
          <a:xfrm>
            <a:off x="833120" y="1259839"/>
            <a:ext cx="10525760" cy="4699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pt-BR" sz="3400" b="0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Exemplo:</a:t>
            </a:r>
            <a:endParaRPr sz="3400" b="0" i="0" u="none" strike="noStrike" cap="none" dirty="0">
              <a:solidFill>
                <a:schemeClr val="tx2">
                  <a:lumMod val="9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2400" b="0" i="0" u="none" strike="noStrike" cap="none" dirty="0">
              <a:solidFill>
                <a:schemeClr val="tx2">
                  <a:lumMod val="9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indent="-314325">
              <a:lnSpc>
                <a:spcPct val="150000"/>
              </a:lnSpc>
              <a:buClr>
                <a:schemeClr val="bg1"/>
              </a:buClr>
              <a:buSzPts val="1350"/>
              <a:buFont typeface="DM Sans"/>
              <a:buChar char="✓"/>
            </a:pPr>
            <a:r>
              <a:rPr lang="pt-BR" sz="2400" dirty="0">
                <a:solidFill>
                  <a:schemeClr val="tx2">
                    <a:lumMod val="90000"/>
                  </a:schemeClr>
                </a:solidFill>
              </a:rPr>
              <a:t>O </a:t>
            </a:r>
            <a:r>
              <a:rPr lang="pt-BR" sz="2400" b="1" dirty="0">
                <a:solidFill>
                  <a:schemeClr val="tx2">
                    <a:lumMod val="90000"/>
                  </a:schemeClr>
                </a:solidFill>
              </a:rPr>
              <a:t>estado </a:t>
            </a:r>
            <a:r>
              <a:rPr lang="pt-BR" sz="2400" dirty="0">
                <a:solidFill>
                  <a:schemeClr val="tx2">
                    <a:lumMod val="90000"/>
                  </a:schemeClr>
                </a:solidFill>
              </a:rPr>
              <a:t>de seu conteúdo (como :</a:t>
            </a:r>
            <a:r>
              <a:rPr lang="pt-BR" sz="2400" dirty="0" err="1">
                <a:solidFill>
                  <a:schemeClr val="tx2">
                    <a:lumMod val="90000"/>
                  </a:schemeClr>
                </a:solidFill>
              </a:rPr>
              <a:t>checked</a:t>
            </a:r>
            <a:r>
              <a:rPr lang="pt-BR" sz="2400" dirty="0">
                <a:solidFill>
                  <a:schemeClr val="tx2">
                    <a:lumMod val="90000"/>
                  </a:schemeClr>
                </a:solidFill>
              </a:rPr>
              <a:t> em alguns elementos do formulário)</a:t>
            </a:r>
          </a:p>
          <a:p>
            <a:pPr marL="457200" marR="0" lvl="0" indent="-31432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350"/>
              <a:buFont typeface="DM Sans"/>
              <a:buChar char="✓"/>
            </a:pPr>
            <a:r>
              <a:rPr lang="pt-BR" sz="2400" b="0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O </a:t>
            </a:r>
            <a:r>
              <a:rPr lang="pt-BR" sz="2400" b="1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histórico </a:t>
            </a:r>
            <a:r>
              <a:rPr lang="pt-BR" sz="2400" b="0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do navegador (:</a:t>
            </a:r>
            <a:r>
              <a:rPr lang="pt-BR" sz="2400" b="0" i="0" u="none" strike="noStrike" cap="none" dirty="0" err="1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visited</a:t>
            </a:r>
            <a:r>
              <a:rPr lang="pt-BR" sz="2400" b="0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, por exemplo)</a:t>
            </a:r>
            <a:endParaRPr sz="2400" b="0" i="0" u="none" strike="noStrike" cap="none" dirty="0">
              <a:solidFill>
                <a:schemeClr val="tx2">
                  <a:lumMod val="9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1432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350"/>
              <a:buFont typeface="DM Sans"/>
              <a:buChar char="✓"/>
            </a:pPr>
            <a:r>
              <a:rPr lang="pt-BR" sz="2400" b="0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pt-BR" sz="2400" b="1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primeira linha</a:t>
            </a:r>
            <a:r>
              <a:rPr lang="pt-BR" sz="2400" b="0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 de um elemento (::</a:t>
            </a:r>
            <a:r>
              <a:rPr lang="pt-BR" sz="2400" b="0" i="0" u="none" strike="noStrike" cap="none" dirty="0" err="1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first-line</a:t>
            </a:r>
            <a:r>
              <a:rPr lang="pt-BR" sz="2400" b="0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, por exemplo)</a:t>
            </a:r>
            <a:endParaRPr sz="2400" b="0" i="0" u="none" strike="noStrike" cap="none" dirty="0">
              <a:solidFill>
                <a:schemeClr val="tx2">
                  <a:lumMod val="9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1432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350"/>
              <a:buFont typeface="DM Sans"/>
              <a:buChar char="✓"/>
            </a:pPr>
            <a:r>
              <a:rPr lang="pt-BR" sz="2400" b="0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Inserir </a:t>
            </a:r>
            <a:r>
              <a:rPr lang="pt-BR" sz="2400" b="1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conteúdo antes ou depois</a:t>
            </a:r>
            <a:r>
              <a:rPr lang="pt-BR" sz="2400" b="0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 de um elemento (::</a:t>
            </a:r>
            <a:r>
              <a:rPr lang="pt-BR" sz="2400" b="0" i="0" u="none" strike="noStrike" cap="none" dirty="0" err="1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after</a:t>
            </a:r>
            <a:r>
              <a:rPr lang="pt-BR" sz="2400" b="0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 e ::</a:t>
            </a:r>
            <a:r>
              <a:rPr lang="pt-BR" sz="2400" b="0" i="0" u="none" strike="noStrike" cap="none" dirty="0" err="1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before</a:t>
            </a:r>
            <a:r>
              <a:rPr lang="pt-BR" sz="2400" b="0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, por exemplo)</a:t>
            </a:r>
            <a:endParaRPr sz="2400" b="0" i="0" u="none" strike="noStrike" cap="none" dirty="0">
              <a:solidFill>
                <a:schemeClr val="tx2">
                  <a:lumMod val="9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" name="Conector reto 3">
            <a:extLst>
              <a:ext uri="{FF2B5EF4-FFF2-40B4-BE49-F238E27FC236}">
                <a16:creationId xmlns:a16="http://schemas.microsoft.com/office/drawing/2014/main" id="{6BB1D6B9-9954-9853-47A8-09C3FAB71B97}"/>
              </a:ext>
            </a:extLst>
          </p:cNvPr>
          <p:cNvCxnSpPr>
            <a:cxnSpLocks/>
          </p:cNvCxnSpPr>
          <p:nvPr/>
        </p:nvCxnSpPr>
        <p:spPr>
          <a:xfrm>
            <a:off x="718820" y="1285876"/>
            <a:ext cx="0" cy="673553"/>
          </a:xfrm>
          <a:prstGeom prst="line">
            <a:avLst/>
          </a:prstGeom>
          <a:ln>
            <a:solidFill>
              <a:srgbClr val="ED145B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79937-CBCC-086D-CBC4-8EE501E77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ADA4DDDF-EFAC-6398-179B-67D3AC6544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909"/>
          <a:stretch>
            <a:fillRect/>
          </a:stretch>
        </p:blipFill>
        <p:spPr>
          <a:xfrm>
            <a:off x="171448" y="-1065769"/>
            <a:ext cx="12192001" cy="7874556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1A65484B-B282-2584-17B4-DAC9A06429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EF5D4C67-BB32-842E-7717-5B8117AE085E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353800" y="5594350"/>
            <a:ext cx="838200" cy="365125"/>
          </a:xfrm>
        </p:spPr>
        <p:txBody>
          <a:bodyPr/>
          <a:lstStyle/>
          <a:p>
            <a:pPr lvl="0"/>
            <a:fld id="{00000000-1234-1234-1234-123412341234}" type="slidenum">
              <a:rPr lang="pt-BR" smtClean="0"/>
              <a:pPr lvl="0"/>
              <a:t>4</a:t>
            </a:fld>
            <a:endParaRPr lang="pt-BR"/>
          </a:p>
        </p:txBody>
      </p:sp>
      <p:sp>
        <p:nvSpPr>
          <p:cNvPr id="15" name="Google Shape;77;p5">
            <a:extLst>
              <a:ext uri="{FF2B5EF4-FFF2-40B4-BE49-F238E27FC236}">
                <a16:creationId xmlns:a16="http://schemas.microsoft.com/office/drawing/2014/main" id="{50F4CB51-3599-11DD-F86C-D822D0C7BC6B}"/>
              </a:ext>
            </a:extLst>
          </p:cNvPr>
          <p:cNvSpPr txBox="1">
            <a:spLocks/>
          </p:cNvSpPr>
          <p:nvPr/>
        </p:nvSpPr>
        <p:spPr>
          <a:xfrm>
            <a:off x="838200" y="686435"/>
            <a:ext cx="10300970" cy="986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90000"/>
              </a:lnSpc>
              <a:buClr>
                <a:srgbClr val="595959"/>
              </a:buClr>
              <a:buSzPts val="4400"/>
            </a:pPr>
            <a:r>
              <a:rPr lang="pt-BR" sz="4300" dirty="0">
                <a:solidFill>
                  <a:schemeClr val="bg1"/>
                </a:solidFill>
              </a:rPr>
              <a:t> O que é uma </a:t>
            </a:r>
            <a:r>
              <a:rPr lang="pt-BR" sz="4300" dirty="0" err="1">
                <a:solidFill>
                  <a:schemeClr val="bg1"/>
                </a:solidFill>
              </a:rPr>
              <a:t>pseudo-classe</a:t>
            </a:r>
            <a:r>
              <a:rPr lang="pt-BR" sz="4300" dirty="0">
                <a:solidFill>
                  <a:schemeClr val="bg1"/>
                </a:solidFill>
              </a:rPr>
              <a:t>? </a:t>
            </a:r>
          </a:p>
        </p:txBody>
      </p:sp>
      <p:sp>
        <p:nvSpPr>
          <p:cNvPr id="16" name="Google Shape;79;p5">
            <a:extLst>
              <a:ext uri="{FF2B5EF4-FFF2-40B4-BE49-F238E27FC236}">
                <a16:creationId xmlns:a16="http://schemas.microsoft.com/office/drawing/2014/main" id="{74DDC5BA-EEF2-C335-E7A1-16C9E1062705}"/>
              </a:ext>
            </a:extLst>
          </p:cNvPr>
          <p:cNvSpPr txBox="1"/>
          <p:nvPr/>
        </p:nvSpPr>
        <p:spPr>
          <a:xfrm>
            <a:off x="1063622" y="2037558"/>
            <a:ext cx="10290178" cy="26975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buSzPts val="1800"/>
            </a:pPr>
            <a:r>
              <a:rPr lang="pt-BR" sz="2200" dirty="0">
                <a:solidFill>
                  <a:schemeClr val="tx2">
                    <a:lumMod val="90000"/>
                  </a:schemeClr>
                </a:solidFill>
              </a:rPr>
              <a:t>Uma </a:t>
            </a:r>
            <a:r>
              <a:rPr lang="pt-BR" sz="2200" dirty="0" err="1">
                <a:solidFill>
                  <a:schemeClr val="tx2">
                    <a:lumMod val="90000"/>
                  </a:schemeClr>
                </a:solidFill>
              </a:rPr>
              <a:t>pseudo-classe</a:t>
            </a:r>
            <a:r>
              <a:rPr lang="pt-BR" sz="2200" dirty="0">
                <a:solidFill>
                  <a:schemeClr val="tx2">
                    <a:lumMod val="90000"/>
                  </a:schemeClr>
                </a:solidFill>
              </a:rPr>
              <a:t> CSS, identificada pelo símbolo ”:” (dois pontos), aplica estilos a elementos com base em </a:t>
            </a:r>
            <a:r>
              <a:rPr lang="pt-BR" sz="2200" b="1" dirty="0">
                <a:solidFill>
                  <a:srgbClr val="ED145B"/>
                </a:solidFill>
              </a:rPr>
              <a:t>estados específicos</a:t>
            </a:r>
            <a:r>
              <a:rPr lang="pt-BR" sz="2200" dirty="0">
                <a:solidFill>
                  <a:schemeClr val="tx2">
                    <a:lumMod val="90000"/>
                  </a:schemeClr>
                </a:solidFill>
              </a:rPr>
              <a:t>, </a:t>
            </a:r>
            <a:r>
              <a:rPr lang="pt-BR" sz="2200" b="1" dirty="0">
                <a:solidFill>
                  <a:srgbClr val="ED145B"/>
                </a:solidFill>
              </a:rPr>
              <a:t>interações</a:t>
            </a:r>
            <a:r>
              <a:rPr lang="pt-BR" sz="2200" dirty="0">
                <a:solidFill>
                  <a:schemeClr val="tx2">
                    <a:lumMod val="90000"/>
                  </a:schemeClr>
                </a:solidFill>
              </a:rPr>
              <a:t> do usuário ou </a:t>
            </a:r>
            <a:r>
              <a:rPr lang="pt-BR" sz="2200" b="1" dirty="0">
                <a:solidFill>
                  <a:srgbClr val="ED145B"/>
                </a:solidFill>
              </a:rPr>
              <a:t>estruturas</a:t>
            </a:r>
            <a:r>
              <a:rPr lang="pt-BR" sz="2200" dirty="0">
                <a:solidFill>
                  <a:schemeClr val="tx2">
                    <a:lumMod val="90000"/>
                  </a:schemeClr>
                </a:solidFill>
              </a:rPr>
              <a:t> do documento.</a:t>
            </a:r>
          </a:p>
          <a:p>
            <a:pPr lvl="0">
              <a:buSzPts val="1800"/>
            </a:pPr>
            <a:br>
              <a:rPr lang="pt-BR" sz="2200" dirty="0">
                <a:solidFill>
                  <a:schemeClr val="tx2">
                    <a:lumMod val="90000"/>
                  </a:schemeClr>
                </a:solidFill>
              </a:rPr>
            </a:br>
            <a:r>
              <a:rPr lang="pt-BR" sz="2200" dirty="0">
                <a:solidFill>
                  <a:schemeClr val="tx2">
                    <a:lumMod val="90000"/>
                  </a:schemeClr>
                </a:solidFill>
              </a:rPr>
              <a:t>Elas permitem estilizar elementos dinamicamente </a:t>
            </a:r>
            <a:r>
              <a:rPr lang="pt-BR" sz="2200" b="1" dirty="0">
                <a:solidFill>
                  <a:schemeClr val="bg1"/>
                </a:solidFill>
              </a:rPr>
              <a:t>sem alterar o HTML</a:t>
            </a:r>
            <a:r>
              <a:rPr lang="pt-BR" sz="2200" dirty="0">
                <a:solidFill>
                  <a:schemeClr val="tx2">
                    <a:lumMod val="90000"/>
                  </a:schemeClr>
                </a:solidFill>
              </a:rPr>
              <a:t>, reagindo a comportamentos como cliques, foco em campos de formulário ou posições na página.</a:t>
            </a:r>
            <a:endParaRPr lang="pt-BR" sz="2200" b="0" i="0" u="none" strike="noStrike" cap="none" dirty="0">
              <a:solidFill>
                <a:schemeClr val="tx2">
                  <a:lumMod val="9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7" name="Google Shape;80;p5">
            <a:extLst>
              <a:ext uri="{FF2B5EF4-FFF2-40B4-BE49-F238E27FC236}">
                <a16:creationId xmlns:a16="http://schemas.microsoft.com/office/drawing/2014/main" id="{2FAE28DB-92CC-4779-87AD-28EC307056B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30657878"/>
              </p:ext>
            </p:extLst>
          </p:nvPr>
        </p:nvGraphicFramePr>
        <p:xfrm>
          <a:off x="3451860" y="4840497"/>
          <a:ext cx="5073650" cy="1224280"/>
        </p:xfrm>
        <a:graphic>
          <a:graphicData uri="http://schemas.openxmlformats.org/drawingml/2006/table">
            <a:tbl>
              <a:tblPr>
                <a:noFill/>
                <a:tableStyleId>{63B152E9-AFB2-458E-BFAF-78D379E83702}</a:tableStyleId>
              </a:tblPr>
              <a:tblGrid>
                <a:gridCol w="5073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195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400" u="none" strike="noStrike" cap="none" dirty="0" err="1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seletor</a:t>
                      </a:r>
                      <a:r>
                        <a:rPr lang="pt-BR" sz="2400" b="0" i="1" u="none" strike="noStrike" cap="none" dirty="0" err="1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</a:t>
                      </a:r>
                      <a:r>
                        <a:rPr lang="pt-BR" sz="2400" i="1" u="none" strike="noStrike" cap="none" dirty="0" err="1">
                          <a:solidFill>
                            <a:srgbClr val="50FA7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pseudoclasse</a:t>
                      </a: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{ </a:t>
                      </a:r>
                      <a:endParaRPr sz="2000" u="none" strike="noStrike" cap="none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    </a:t>
                      </a:r>
                      <a:r>
                        <a:rPr lang="pt-BR" sz="2400" u="none" strike="noStrike" cap="none" dirty="0">
                          <a:solidFill>
                            <a:srgbClr val="8BE9FD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propriedade</a:t>
                      </a:r>
                      <a:r>
                        <a:rPr lang="pt-BR" sz="2400" b="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</a:t>
                      </a: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pt-BR" sz="2400" u="none" strike="noStrike" cap="none" dirty="0">
                          <a:solidFill>
                            <a:srgbClr val="BD93F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valor</a:t>
                      </a: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; </a:t>
                      </a:r>
                      <a:endParaRPr sz="2000" u="none" strike="noStrike" cap="none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}</a:t>
                      </a:r>
                      <a:endParaRPr sz="2400" b="0" u="none" strike="noStrike" cap="none" dirty="0">
                        <a:solidFill>
                          <a:srgbClr val="F8F8F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63500" marR="63500" marT="63500" marB="63500">
                    <a:lnL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C34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08658DE1-DDBF-3029-762F-2D90E5E2E4D1}"/>
              </a:ext>
            </a:extLst>
          </p:cNvPr>
          <p:cNvCxnSpPr>
            <a:cxnSpLocks/>
          </p:cNvCxnSpPr>
          <p:nvPr/>
        </p:nvCxnSpPr>
        <p:spPr>
          <a:xfrm>
            <a:off x="856932" y="743587"/>
            <a:ext cx="0" cy="828040"/>
          </a:xfrm>
          <a:prstGeom prst="line">
            <a:avLst/>
          </a:prstGeom>
          <a:ln>
            <a:solidFill>
              <a:srgbClr val="ED145B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57559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>
            <a:extLst>
              <a:ext uri="{FF2B5EF4-FFF2-40B4-BE49-F238E27FC236}">
                <a16:creationId xmlns:a16="http://schemas.microsoft.com/office/drawing/2014/main" id="{236FF9C0-CFD8-611D-BAA3-9992A95960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7" name="Imagem 26">
            <a:extLst>
              <a:ext uri="{FF2B5EF4-FFF2-40B4-BE49-F238E27FC236}">
                <a16:creationId xmlns:a16="http://schemas.microsoft.com/office/drawing/2014/main" id="{D6B87C4D-5BA9-F6BF-64C0-96E64D35DC9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96" b="37143"/>
          <a:stretch>
            <a:fillRect/>
          </a:stretch>
        </p:blipFill>
        <p:spPr>
          <a:xfrm rot="10800000">
            <a:off x="0" y="3338064"/>
            <a:ext cx="12410990" cy="4423381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D13752E8-BA40-C698-8A53-B62022D5657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8328" b="37143"/>
          <a:stretch>
            <a:fillRect/>
          </a:stretch>
        </p:blipFill>
        <p:spPr>
          <a:xfrm>
            <a:off x="8229600" y="-773324"/>
            <a:ext cx="3962400" cy="4423381"/>
          </a:xfrm>
          <a:prstGeom prst="rect">
            <a:avLst/>
          </a:prstGeom>
        </p:spPr>
      </p:pic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DEE04AA6-6B05-B503-6F51-4A7953DC72A1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353800" y="5594350"/>
            <a:ext cx="838200" cy="365125"/>
          </a:xfrm>
        </p:spPr>
        <p:txBody>
          <a:bodyPr/>
          <a:lstStyle/>
          <a:p>
            <a:pPr lvl="0"/>
            <a:fld id="{00000000-1234-1234-1234-123412341234}" type="slidenum">
              <a:rPr lang="pt-BR" smtClean="0"/>
              <a:pPr lvl="0"/>
              <a:t>5</a:t>
            </a:fld>
            <a:endParaRPr lang="pt-BR"/>
          </a:p>
        </p:txBody>
      </p:sp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215081FC-8A22-7741-59B1-F3EF830AE68F}"/>
              </a:ext>
            </a:extLst>
          </p:cNvPr>
          <p:cNvCxnSpPr>
            <a:cxnSpLocks/>
          </p:cNvCxnSpPr>
          <p:nvPr/>
        </p:nvCxnSpPr>
        <p:spPr>
          <a:xfrm>
            <a:off x="856932" y="743587"/>
            <a:ext cx="0" cy="828040"/>
          </a:xfrm>
          <a:prstGeom prst="line">
            <a:avLst/>
          </a:prstGeom>
          <a:ln>
            <a:solidFill>
              <a:srgbClr val="ED145B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2" name="Google Shape;85;p6">
            <a:extLst>
              <a:ext uri="{FF2B5EF4-FFF2-40B4-BE49-F238E27FC236}">
                <a16:creationId xmlns:a16="http://schemas.microsoft.com/office/drawing/2014/main" id="{6D6E2986-F11A-7D3D-2524-E067267B0DF5}"/>
              </a:ext>
            </a:extLst>
          </p:cNvPr>
          <p:cNvSpPr txBox="1">
            <a:spLocks/>
          </p:cNvSpPr>
          <p:nvPr/>
        </p:nvSpPr>
        <p:spPr>
          <a:xfrm>
            <a:off x="945515" y="664529"/>
            <a:ext cx="10300970" cy="986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20000"/>
              </a:lnSpc>
              <a:buClr>
                <a:srgbClr val="595959"/>
              </a:buClr>
              <a:buSzPct val="222222"/>
            </a:pPr>
            <a:r>
              <a:rPr lang="pt-BR" sz="4300" dirty="0" err="1">
                <a:solidFill>
                  <a:schemeClr val="bg1"/>
                </a:solidFill>
              </a:rPr>
              <a:t>Pseudo-classes</a:t>
            </a:r>
            <a:r>
              <a:rPr lang="pt-BR" sz="4300" dirty="0">
                <a:solidFill>
                  <a:schemeClr val="bg1"/>
                </a:solidFill>
              </a:rPr>
              <a:t> dinâmicas</a:t>
            </a:r>
            <a:br>
              <a:rPr lang="pt-BR" sz="4300" dirty="0">
                <a:solidFill>
                  <a:schemeClr val="tx2">
                    <a:lumMod val="90000"/>
                  </a:schemeClr>
                </a:solidFill>
              </a:rPr>
            </a:br>
            <a:r>
              <a:rPr lang="pt-BR" sz="2000" dirty="0">
                <a:solidFill>
                  <a:schemeClr val="tx2">
                    <a:lumMod val="90000"/>
                  </a:schemeClr>
                </a:solidFill>
              </a:rPr>
              <a:t>Controlam os estados dos elementos.</a:t>
            </a:r>
          </a:p>
        </p:txBody>
      </p:sp>
      <p:sp>
        <p:nvSpPr>
          <p:cNvPr id="23" name="Google Shape;87;p6">
            <a:extLst>
              <a:ext uri="{FF2B5EF4-FFF2-40B4-BE49-F238E27FC236}">
                <a16:creationId xmlns:a16="http://schemas.microsoft.com/office/drawing/2014/main" id="{298FC63D-C8D2-103B-7300-DEDB854EBE02}"/>
              </a:ext>
            </a:extLst>
          </p:cNvPr>
          <p:cNvSpPr txBox="1"/>
          <p:nvPr/>
        </p:nvSpPr>
        <p:spPr>
          <a:xfrm>
            <a:off x="856932" y="1976149"/>
            <a:ext cx="6652200" cy="15978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rtl="0">
              <a:lnSpc>
                <a:spcPct val="150000"/>
              </a:lnSpc>
              <a:spcBef>
                <a:spcPts val="2000"/>
              </a:spcBef>
              <a:spcAft>
                <a:spcPts val="110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pt-BR" sz="4400" b="1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pt-BR" sz="4400" b="1" i="0" u="none" strike="noStrike" cap="none" dirty="0" err="1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hover</a:t>
            </a:r>
            <a:endParaRPr sz="4400" b="1" i="0" u="none" strike="noStrike" cap="none" dirty="0">
              <a:solidFill>
                <a:schemeClr val="tx2">
                  <a:lumMod val="90000"/>
                </a:schemeClr>
              </a:solidFill>
              <a:highlight>
                <a:schemeClr val="accent6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88;p6">
            <a:extLst>
              <a:ext uri="{FF2B5EF4-FFF2-40B4-BE49-F238E27FC236}">
                <a16:creationId xmlns:a16="http://schemas.microsoft.com/office/drawing/2014/main" id="{9908FAD0-994D-3593-9464-299C779545E7}"/>
              </a:ext>
            </a:extLst>
          </p:cNvPr>
          <p:cNvSpPr txBox="1"/>
          <p:nvPr/>
        </p:nvSpPr>
        <p:spPr>
          <a:xfrm>
            <a:off x="896302" y="3362124"/>
            <a:ext cx="10297795" cy="646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pt-BR" sz="2000" b="0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Usada para estilizar quando </a:t>
            </a:r>
            <a:r>
              <a:rPr lang="pt-BR" sz="2000" b="1" i="0" u="none" strike="noStrike" cap="none" dirty="0">
                <a:solidFill>
                  <a:srgbClr val="ED145B"/>
                </a:solidFill>
                <a:latin typeface="Arial"/>
                <a:ea typeface="Arial"/>
                <a:cs typeface="Arial"/>
                <a:sym typeface="Arial"/>
              </a:rPr>
              <a:t>passamos o mouse</a:t>
            </a:r>
            <a:r>
              <a:rPr lang="pt-BR" sz="2000" b="0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 em cima do elemento.</a:t>
            </a:r>
            <a:endParaRPr sz="2000" b="0" i="0" u="none" strike="noStrike" cap="none" dirty="0">
              <a:solidFill>
                <a:schemeClr val="tx2">
                  <a:lumMod val="90000"/>
                </a:schemeClr>
              </a:solidFill>
              <a:highlight>
                <a:srgbClr val="FFFF00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000" b="0" i="0" u="none" strike="noStrike" cap="none" dirty="0">
              <a:solidFill>
                <a:schemeClr val="tx2">
                  <a:lumMod val="9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000" b="0" i="0" u="none" strike="noStrike" cap="none" dirty="0">
              <a:solidFill>
                <a:schemeClr val="tx2">
                  <a:lumMod val="9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2000" b="0" i="0" u="none" strike="noStrike" cap="none" dirty="0">
              <a:solidFill>
                <a:schemeClr val="tx2">
                  <a:lumMod val="9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2000" b="0" i="0" u="none" strike="noStrike" cap="none" dirty="0">
              <a:solidFill>
                <a:schemeClr val="tx2">
                  <a:lumMod val="9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2000" b="0" i="0" u="none" strike="noStrike" cap="none" dirty="0">
              <a:solidFill>
                <a:schemeClr val="tx2">
                  <a:lumMod val="9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5" name="Google Shape;89;p6">
            <a:extLst>
              <a:ext uri="{FF2B5EF4-FFF2-40B4-BE49-F238E27FC236}">
                <a16:creationId xmlns:a16="http://schemas.microsoft.com/office/drawing/2014/main" id="{03431B1A-1121-C1A8-8383-C396F3FD141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8116798"/>
              </p:ext>
            </p:extLst>
          </p:nvPr>
        </p:nvGraphicFramePr>
        <p:xfrm>
          <a:off x="3698562" y="4275250"/>
          <a:ext cx="4794875" cy="1490350"/>
        </p:xfrm>
        <a:graphic>
          <a:graphicData uri="http://schemas.openxmlformats.org/drawingml/2006/table">
            <a:tbl>
              <a:tblPr>
                <a:noFill/>
                <a:tableStyleId>{63B152E9-AFB2-458E-BFAF-78D379E83702}</a:tableStyleId>
              </a:tblPr>
              <a:tblGrid>
                <a:gridCol w="4794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4903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800" b="0" u="none" strike="noStrike" cap="none" dirty="0" err="1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div</a:t>
                      </a:r>
                      <a:r>
                        <a:rPr lang="pt-BR" sz="2800" b="0" i="1" u="none" strike="noStrike" cap="none" dirty="0" err="1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</a:t>
                      </a:r>
                      <a:r>
                        <a:rPr lang="pt-BR" sz="2800" b="0" i="1" u="none" strike="noStrike" cap="none" dirty="0" err="1">
                          <a:solidFill>
                            <a:srgbClr val="50FA7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hover</a:t>
                      </a:r>
                      <a:r>
                        <a:rPr lang="pt-BR" sz="28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{ </a:t>
                      </a:r>
                      <a:endParaRPr sz="2400" u="none" strike="noStrike" cap="none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8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    </a:t>
                      </a:r>
                      <a:r>
                        <a:rPr lang="pt-BR" sz="2800" b="0" u="none" strike="noStrike" cap="none" dirty="0">
                          <a:solidFill>
                            <a:srgbClr val="8BE9FD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color</a:t>
                      </a:r>
                      <a:r>
                        <a:rPr lang="pt-BR" sz="2800" b="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</a:t>
                      </a:r>
                      <a:r>
                        <a:rPr lang="pt-BR" sz="28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pt-BR" sz="2800" b="0" u="none" strike="noStrike" cap="none" dirty="0" err="1">
                          <a:solidFill>
                            <a:srgbClr val="BD93F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orange</a:t>
                      </a:r>
                      <a:r>
                        <a:rPr lang="pt-BR" sz="28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; </a:t>
                      </a:r>
                      <a:endParaRPr sz="2400" u="none" strike="noStrike" cap="none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8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}</a:t>
                      </a:r>
                      <a:endParaRPr sz="2800" b="0" u="none" strike="noStrike" cap="none" dirty="0">
                        <a:solidFill>
                          <a:srgbClr val="F8F8F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63500" marR="63500" marT="63500" marB="63500">
                    <a:lnL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C34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679295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AE3267-9102-B572-1795-47201C2E3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1FC6932C-DA5E-DD29-E95C-A3AE5912F0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DE60B258-6A69-572C-98E1-687CD31A623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96" b="37143"/>
          <a:stretch>
            <a:fillRect/>
          </a:stretch>
        </p:blipFill>
        <p:spPr>
          <a:xfrm rot="10800000">
            <a:off x="0" y="3338064"/>
            <a:ext cx="12410990" cy="4423381"/>
          </a:xfrm>
          <a:prstGeom prst="rect">
            <a:avLst/>
          </a:prstGeom>
        </p:spPr>
      </p:pic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D15FF637-6009-D14C-D29B-54831D25A80C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353800" y="5594350"/>
            <a:ext cx="838200" cy="365125"/>
          </a:xfrm>
        </p:spPr>
        <p:txBody>
          <a:bodyPr/>
          <a:lstStyle/>
          <a:p>
            <a:pPr lvl="0"/>
            <a:fld id="{00000000-1234-1234-1234-123412341234}" type="slidenum">
              <a:rPr lang="pt-BR" smtClean="0"/>
              <a:pPr lvl="0"/>
              <a:t>6</a:t>
            </a:fld>
            <a:endParaRPr lang="pt-BR"/>
          </a:p>
        </p:txBody>
      </p:sp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1173867A-C8A8-4F97-6B6C-B72A1BE339D4}"/>
              </a:ext>
            </a:extLst>
          </p:cNvPr>
          <p:cNvCxnSpPr>
            <a:cxnSpLocks/>
          </p:cNvCxnSpPr>
          <p:nvPr/>
        </p:nvCxnSpPr>
        <p:spPr>
          <a:xfrm>
            <a:off x="856932" y="743587"/>
            <a:ext cx="0" cy="828040"/>
          </a:xfrm>
          <a:prstGeom prst="line">
            <a:avLst/>
          </a:prstGeom>
          <a:ln>
            <a:solidFill>
              <a:srgbClr val="ED145B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2" name="Google Shape;85;p6">
            <a:extLst>
              <a:ext uri="{FF2B5EF4-FFF2-40B4-BE49-F238E27FC236}">
                <a16:creationId xmlns:a16="http://schemas.microsoft.com/office/drawing/2014/main" id="{F57AB647-AD47-F360-1633-A879968F3224}"/>
              </a:ext>
            </a:extLst>
          </p:cNvPr>
          <p:cNvSpPr txBox="1">
            <a:spLocks/>
          </p:cNvSpPr>
          <p:nvPr/>
        </p:nvSpPr>
        <p:spPr>
          <a:xfrm>
            <a:off x="945515" y="664529"/>
            <a:ext cx="10300970" cy="986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20000"/>
              </a:lnSpc>
              <a:buClr>
                <a:srgbClr val="595959"/>
              </a:buClr>
              <a:buSzPct val="222222"/>
            </a:pPr>
            <a:r>
              <a:rPr lang="pt-BR" sz="4300" dirty="0" err="1">
                <a:solidFill>
                  <a:schemeClr val="bg1"/>
                </a:solidFill>
              </a:rPr>
              <a:t>Pseudo-classes</a:t>
            </a:r>
            <a:r>
              <a:rPr lang="pt-BR" sz="4300" dirty="0">
                <a:solidFill>
                  <a:schemeClr val="bg1"/>
                </a:solidFill>
              </a:rPr>
              <a:t> dinâmicas</a:t>
            </a:r>
            <a:br>
              <a:rPr lang="pt-BR" sz="4300" dirty="0">
                <a:solidFill>
                  <a:schemeClr val="tx2">
                    <a:lumMod val="90000"/>
                  </a:schemeClr>
                </a:solidFill>
              </a:rPr>
            </a:br>
            <a:r>
              <a:rPr lang="pt-BR" sz="2000" dirty="0">
                <a:solidFill>
                  <a:schemeClr val="tx2">
                    <a:lumMod val="90000"/>
                  </a:schemeClr>
                </a:solidFill>
              </a:rPr>
              <a:t>Controlam os estados dos elementos.</a:t>
            </a:r>
          </a:p>
        </p:txBody>
      </p:sp>
      <p:sp>
        <p:nvSpPr>
          <p:cNvPr id="23" name="Google Shape;87;p6">
            <a:extLst>
              <a:ext uri="{FF2B5EF4-FFF2-40B4-BE49-F238E27FC236}">
                <a16:creationId xmlns:a16="http://schemas.microsoft.com/office/drawing/2014/main" id="{FFF86D05-16FE-0A80-EDF8-24BF4146625C}"/>
              </a:ext>
            </a:extLst>
          </p:cNvPr>
          <p:cNvSpPr txBox="1"/>
          <p:nvPr/>
        </p:nvSpPr>
        <p:spPr>
          <a:xfrm>
            <a:off x="817562" y="1719810"/>
            <a:ext cx="6652200" cy="15978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rtl="0">
              <a:lnSpc>
                <a:spcPct val="150000"/>
              </a:lnSpc>
              <a:spcBef>
                <a:spcPts val="2000"/>
              </a:spcBef>
              <a:spcAft>
                <a:spcPts val="110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pt-BR" sz="4400" b="1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pt-BR" sz="4400" b="1" i="0" u="none" strike="noStrike" cap="none" dirty="0" err="1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active</a:t>
            </a:r>
            <a:endParaRPr sz="4400" b="1" i="0" u="none" strike="noStrike" cap="none" dirty="0">
              <a:solidFill>
                <a:schemeClr val="tx2">
                  <a:lumMod val="90000"/>
                </a:schemeClr>
              </a:solidFill>
              <a:highlight>
                <a:schemeClr val="accent6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88;p6">
            <a:extLst>
              <a:ext uri="{FF2B5EF4-FFF2-40B4-BE49-F238E27FC236}">
                <a16:creationId xmlns:a16="http://schemas.microsoft.com/office/drawing/2014/main" id="{E2F125E2-EFE3-AAFA-019F-F49B107EB543}"/>
              </a:ext>
            </a:extLst>
          </p:cNvPr>
          <p:cNvSpPr txBox="1"/>
          <p:nvPr/>
        </p:nvSpPr>
        <p:spPr>
          <a:xfrm>
            <a:off x="711200" y="3105785"/>
            <a:ext cx="10642600" cy="646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>
              <a:buClr>
                <a:schemeClr val="dk1"/>
              </a:buClr>
              <a:buSzPts val="1800"/>
            </a:pPr>
            <a:r>
              <a:rPr lang="pt-BR" sz="2000" dirty="0">
                <a:solidFill>
                  <a:schemeClr val="tx2">
                    <a:lumMod val="90000"/>
                  </a:schemeClr>
                </a:solidFill>
              </a:rPr>
              <a:t>Usada para estilizar um elemento no momento em que o </a:t>
            </a:r>
            <a:r>
              <a:rPr lang="pt-BR" sz="2000" b="1" dirty="0">
                <a:solidFill>
                  <a:srgbClr val="ED145B"/>
                </a:solidFill>
              </a:rPr>
              <a:t>usuário o torna “ativo”</a:t>
            </a:r>
            <a:r>
              <a:rPr lang="pt-BR" sz="2000" dirty="0">
                <a:solidFill>
                  <a:schemeClr val="tx2">
                    <a:lumMod val="90000"/>
                  </a:schemeClr>
                </a:solidFill>
              </a:rPr>
              <a:t>. Por exemplo, quando clicamos em um link e não soltamos o botão do mouse. Nesse momento, estamos ativando a ação do elemento. Esse estado é ativado também quando navegamos entre os links pelo teclado utilizando o TAB.</a:t>
            </a:r>
            <a:endParaRPr lang="pt-BR" sz="2000" dirty="0">
              <a:solidFill>
                <a:schemeClr val="tx2">
                  <a:lumMod val="90000"/>
                </a:schemeClr>
              </a:solidFill>
              <a:highlight>
                <a:srgbClr val="FFFF00"/>
              </a:highlight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000" b="0" i="0" u="none" strike="noStrike" cap="none" dirty="0">
              <a:solidFill>
                <a:schemeClr val="tx2">
                  <a:lumMod val="9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2000" b="0" i="0" u="none" strike="noStrike" cap="none" dirty="0">
              <a:solidFill>
                <a:schemeClr val="tx2">
                  <a:lumMod val="9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2000" b="0" i="0" u="none" strike="noStrike" cap="none" dirty="0">
              <a:solidFill>
                <a:schemeClr val="tx2">
                  <a:lumMod val="9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2000" b="0" i="0" u="none" strike="noStrike" cap="none" dirty="0">
              <a:solidFill>
                <a:schemeClr val="tx2">
                  <a:lumMod val="9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A52B2280-108A-EF6F-7919-4C7E39CA02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8328" b="37143"/>
          <a:stretch>
            <a:fillRect/>
          </a:stretch>
        </p:blipFill>
        <p:spPr>
          <a:xfrm>
            <a:off x="8229600" y="-773324"/>
            <a:ext cx="3962400" cy="4423381"/>
          </a:xfrm>
          <a:prstGeom prst="rect">
            <a:avLst/>
          </a:prstGeom>
        </p:spPr>
      </p:pic>
      <p:graphicFrame>
        <p:nvGraphicFramePr>
          <p:cNvPr id="12" name="Google Shape;98;p7">
            <a:extLst>
              <a:ext uri="{FF2B5EF4-FFF2-40B4-BE49-F238E27FC236}">
                <a16:creationId xmlns:a16="http://schemas.microsoft.com/office/drawing/2014/main" id="{B17C30E2-89B8-CA3B-781A-7E5CC505260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04331182"/>
              </p:ext>
            </p:extLst>
          </p:nvPr>
        </p:nvGraphicFramePr>
        <p:xfrm>
          <a:off x="3433125" y="4860827"/>
          <a:ext cx="5325750" cy="1407160"/>
        </p:xfrm>
        <a:graphic>
          <a:graphicData uri="http://schemas.openxmlformats.org/drawingml/2006/table">
            <a:tbl>
              <a:tblPr>
                <a:noFill/>
                <a:tableStyleId>{63B152E9-AFB2-458E-BFAF-78D379E83702}</a:tableStyleId>
              </a:tblPr>
              <a:tblGrid>
                <a:gridCol w="5325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4071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800" b="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</a:t>
                      </a:r>
                      <a:r>
                        <a:rPr lang="pt-BR" sz="2800" b="0" i="1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</a:t>
                      </a:r>
                      <a:r>
                        <a:rPr lang="pt-BR" sz="2800" b="0" i="1" u="none" strike="noStrike" cap="none" dirty="0">
                          <a:solidFill>
                            <a:srgbClr val="50FA7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active</a:t>
                      </a:r>
                      <a:r>
                        <a:rPr lang="pt-BR" sz="28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{ </a:t>
                      </a:r>
                      <a:endParaRPr sz="2400" u="none" strike="noStrike" cap="none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8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    </a:t>
                      </a:r>
                      <a:r>
                        <a:rPr lang="pt-BR" sz="2800" b="0" u="none" strike="noStrike" cap="none" dirty="0">
                          <a:solidFill>
                            <a:srgbClr val="8BE9FD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color</a:t>
                      </a:r>
                      <a:r>
                        <a:rPr lang="pt-BR" sz="2800" b="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</a:t>
                      </a:r>
                      <a:r>
                        <a:rPr lang="pt-BR" sz="28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pt-BR" sz="2800" b="0" u="none" strike="noStrike" cap="none" dirty="0">
                          <a:solidFill>
                            <a:srgbClr val="BD93F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blue</a:t>
                      </a:r>
                      <a:r>
                        <a:rPr lang="pt-BR" sz="28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; </a:t>
                      </a:r>
                      <a:endParaRPr sz="2400" u="none" strike="noStrike" cap="none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8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}</a:t>
                      </a:r>
                      <a:endParaRPr sz="2800" b="0" u="none" strike="noStrike" cap="none" dirty="0">
                        <a:solidFill>
                          <a:srgbClr val="F8F8F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63500" marR="63500" marT="63500" marB="63500">
                    <a:lnL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C34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015268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17E16-0F82-41AC-BC45-6E7EAC231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m 10">
            <a:extLst>
              <a:ext uri="{FF2B5EF4-FFF2-40B4-BE49-F238E27FC236}">
                <a16:creationId xmlns:a16="http://schemas.microsoft.com/office/drawing/2014/main" id="{231371AC-D792-71EF-3012-29CF463BC4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0194DF75-7069-7F56-D5DA-E0A37EFDB93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96" b="37143"/>
          <a:stretch>
            <a:fillRect/>
          </a:stretch>
        </p:blipFill>
        <p:spPr>
          <a:xfrm rot="10800000">
            <a:off x="0" y="3338064"/>
            <a:ext cx="12410990" cy="4423381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3CB12FA8-3F6F-3298-F003-9C1C158B270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8328" b="37143"/>
          <a:stretch>
            <a:fillRect/>
          </a:stretch>
        </p:blipFill>
        <p:spPr>
          <a:xfrm>
            <a:off x="8229600" y="-773324"/>
            <a:ext cx="3962400" cy="4423381"/>
          </a:xfrm>
          <a:prstGeom prst="rect">
            <a:avLst/>
          </a:prstGeom>
        </p:spPr>
      </p:pic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B4291575-0ACE-EC38-B2CD-8BCAAABC6DBB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353800" y="5594350"/>
            <a:ext cx="838200" cy="365125"/>
          </a:xfrm>
        </p:spPr>
        <p:txBody>
          <a:bodyPr/>
          <a:lstStyle/>
          <a:p>
            <a:pPr lvl="0"/>
            <a:fld id="{00000000-1234-1234-1234-123412341234}" type="slidenum">
              <a:rPr lang="pt-BR" smtClean="0"/>
              <a:pPr lvl="0"/>
              <a:t>7</a:t>
            </a:fld>
            <a:endParaRPr lang="pt-BR"/>
          </a:p>
        </p:txBody>
      </p:sp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635762B6-7332-563B-8C8F-4D63E2CBC686}"/>
              </a:ext>
            </a:extLst>
          </p:cNvPr>
          <p:cNvCxnSpPr>
            <a:cxnSpLocks/>
          </p:cNvCxnSpPr>
          <p:nvPr/>
        </p:nvCxnSpPr>
        <p:spPr>
          <a:xfrm>
            <a:off x="856932" y="743587"/>
            <a:ext cx="0" cy="828040"/>
          </a:xfrm>
          <a:prstGeom prst="line">
            <a:avLst/>
          </a:prstGeom>
          <a:ln>
            <a:solidFill>
              <a:srgbClr val="ED145B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2" name="Google Shape;85;p6">
            <a:extLst>
              <a:ext uri="{FF2B5EF4-FFF2-40B4-BE49-F238E27FC236}">
                <a16:creationId xmlns:a16="http://schemas.microsoft.com/office/drawing/2014/main" id="{14BA8D56-C7AC-318B-85BF-D5844501C1DB}"/>
              </a:ext>
            </a:extLst>
          </p:cNvPr>
          <p:cNvSpPr txBox="1">
            <a:spLocks/>
          </p:cNvSpPr>
          <p:nvPr/>
        </p:nvSpPr>
        <p:spPr>
          <a:xfrm>
            <a:off x="945515" y="664529"/>
            <a:ext cx="10300970" cy="986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20000"/>
              </a:lnSpc>
              <a:buClr>
                <a:srgbClr val="595959"/>
              </a:buClr>
              <a:buSzPct val="222222"/>
            </a:pPr>
            <a:r>
              <a:rPr lang="pt-BR" sz="4300" dirty="0" err="1">
                <a:solidFill>
                  <a:schemeClr val="bg1"/>
                </a:solidFill>
              </a:rPr>
              <a:t>Pseudo-classes</a:t>
            </a:r>
            <a:r>
              <a:rPr lang="pt-BR" sz="4300" dirty="0">
                <a:solidFill>
                  <a:schemeClr val="bg1"/>
                </a:solidFill>
              </a:rPr>
              <a:t> dinâmicas</a:t>
            </a:r>
            <a:br>
              <a:rPr lang="pt-BR" sz="4300" dirty="0">
                <a:solidFill>
                  <a:schemeClr val="tx2">
                    <a:lumMod val="90000"/>
                  </a:schemeClr>
                </a:solidFill>
              </a:rPr>
            </a:br>
            <a:r>
              <a:rPr lang="pt-BR" sz="2000" dirty="0">
                <a:solidFill>
                  <a:schemeClr val="tx2">
                    <a:lumMod val="90000"/>
                  </a:schemeClr>
                </a:solidFill>
              </a:rPr>
              <a:t>Controlam os estados dos elementos.</a:t>
            </a:r>
          </a:p>
        </p:txBody>
      </p:sp>
      <p:sp>
        <p:nvSpPr>
          <p:cNvPr id="23" name="Google Shape;87;p6">
            <a:extLst>
              <a:ext uri="{FF2B5EF4-FFF2-40B4-BE49-F238E27FC236}">
                <a16:creationId xmlns:a16="http://schemas.microsoft.com/office/drawing/2014/main" id="{672A9BB6-AC8A-F87C-9CF3-4C8C5D58D2A2}"/>
              </a:ext>
            </a:extLst>
          </p:cNvPr>
          <p:cNvSpPr txBox="1"/>
          <p:nvPr/>
        </p:nvSpPr>
        <p:spPr>
          <a:xfrm>
            <a:off x="856932" y="1976149"/>
            <a:ext cx="6652200" cy="15978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rtl="0">
              <a:lnSpc>
                <a:spcPct val="150000"/>
              </a:lnSpc>
              <a:spcBef>
                <a:spcPts val="2000"/>
              </a:spcBef>
              <a:spcAft>
                <a:spcPts val="110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pt-BR" sz="4400" b="1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pt-BR" sz="4400" b="1" i="0" u="none" strike="noStrike" cap="none" dirty="0" err="1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visited</a:t>
            </a:r>
            <a:endParaRPr sz="4400" b="1" i="0" u="none" strike="noStrike" cap="none" dirty="0">
              <a:solidFill>
                <a:schemeClr val="tx2">
                  <a:lumMod val="90000"/>
                </a:schemeClr>
              </a:solidFill>
              <a:highlight>
                <a:schemeClr val="accent6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88;p6">
            <a:extLst>
              <a:ext uri="{FF2B5EF4-FFF2-40B4-BE49-F238E27FC236}">
                <a16:creationId xmlns:a16="http://schemas.microsoft.com/office/drawing/2014/main" id="{C2D0C230-8DB4-2285-22F8-0FC95C73DB7D}"/>
              </a:ext>
            </a:extLst>
          </p:cNvPr>
          <p:cNvSpPr txBox="1"/>
          <p:nvPr/>
        </p:nvSpPr>
        <p:spPr>
          <a:xfrm>
            <a:off x="896302" y="3362124"/>
            <a:ext cx="10297795" cy="646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algn="ctr">
              <a:lnSpc>
                <a:spcPct val="115000"/>
              </a:lnSpc>
              <a:buClr>
                <a:schemeClr val="dk1"/>
              </a:buClr>
              <a:buSzPts val="1800"/>
            </a:pPr>
            <a:r>
              <a:rPr lang="pt-BR" sz="2000" dirty="0">
                <a:solidFill>
                  <a:schemeClr val="tx2">
                    <a:lumMod val="90000"/>
                  </a:schemeClr>
                </a:solidFill>
              </a:rPr>
              <a:t>Usada para estilizar um </a:t>
            </a:r>
            <a:r>
              <a:rPr lang="pt-BR" sz="2000" b="1" dirty="0">
                <a:solidFill>
                  <a:srgbClr val="ED145B"/>
                </a:solidFill>
              </a:rPr>
              <a:t>link que já foi visitado</a:t>
            </a:r>
            <a:r>
              <a:rPr lang="pt-BR" sz="2000" dirty="0">
                <a:solidFill>
                  <a:schemeClr val="tx2">
                    <a:lumMod val="90000"/>
                  </a:schemeClr>
                </a:solidFill>
              </a:rPr>
              <a:t>.</a:t>
            </a:r>
            <a:endParaRPr sz="2000" b="0" i="0" u="none" strike="noStrike" cap="none" dirty="0">
              <a:solidFill>
                <a:schemeClr val="tx2">
                  <a:lumMod val="9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000" b="0" i="0" u="none" strike="noStrike" cap="none" dirty="0">
              <a:solidFill>
                <a:schemeClr val="tx2">
                  <a:lumMod val="9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2000" b="0" i="0" u="none" strike="noStrike" cap="none" dirty="0">
              <a:solidFill>
                <a:schemeClr val="tx2">
                  <a:lumMod val="9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2000" b="0" i="0" u="none" strike="noStrike" cap="none" dirty="0">
              <a:solidFill>
                <a:schemeClr val="tx2">
                  <a:lumMod val="9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2000" b="0" i="0" u="none" strike="noStrike" cap="none" dirty="0">
              <a:solidFill>
                <a:schemeClr val="tx2">
                  <a:lumMod val="9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0" name="Google Shape;107;p8">
            <a:extLst>
              <a:ext uri="{FF2B5EF4-FFF2-40B4-BE49-F238E27FC236}">
                <a16:creationId xmlns:a16="http://schemas.microsoft.com/office/drawing/2014/main" id="{0990F608-CEE8-27DD-1663-A0E65FAD0AC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44806198"/>
              </p:ext>
            </p:extLst>
          </p:nvPr>
        </p:nvGraphicFramePr>
        <p:xfrm>
          <a:off x="3667436" y="4377675"/>
          <a:ext cx="4755525" cy="1497325"/>
        </p:xfrm>
        <a:graphic>
          <a:graphicData uri="http://schemas.openxmlformats.org/drawingml/2006/table">
            <a:tbl>
              <a:tblPr>
                <a:noFill/>
                <a:tableStyleId>{63B152E9-AFB2-458E-BFAF-78D379E83702}</a:tableStyleId>
              </a:tblPr>
              <a:tblGrid>
                <a:gridCol w="4755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497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800" b="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</a:t>
                      </a:r>
                      <a:r>
                        <a:rPr lang="pt-BR" sz="2800" b="0" i="1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</a:t>
                      </a:r>
                      <a:r>
                        <a:rPr lang="pt-BR" sz="2800" b="0" i="1" u="none" strike="noStrike" cap="none" dirty="0">
                          <a:solidFill>
                            <a:srgbClr val="50FA7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visited</a:t>
                      </a:r>
                      <a:r>
                        <a:rPr lang="pt-BR" sz="28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{ </a:t>
                      </a:r>
                      <a:endParaRPr sz="2400" u="none" strike="noStrike" cap="none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8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    </a:t>
                      </a:r>
                      <a:r>
                        <a:rPr lang="pt-BR" sz="2800" b="0" u="none" strike="noStrike" cap="none" dirty="0">
                          <a:solidFill>
                            <a:srgbClr val="8BE9FD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color</a:t>
                      </a:r>
                      <a:r>
                        <a:rPr lang="pt-BR" sz="2800" b="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</a:t>
                      </a:r>
                      <a:r>
                        <a:rPr lang="pt-BR" sz="28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pt-BR" sz="2800" u="none" strike="noStrike" cap="none" dirty="0" err="1">
                          <a:solidFill>
                            <a:srgbClr val="BD93F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red</a:t>
                      </a:r>
                      <a:r>
                        <a:rPr lang="pt-BR" sz="28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; </a:t>
                      </a:r>
                      <a:endParaRPr sz="2400" u="none" strike="noStrike" cap="none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8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}</a:t>
                      </a:r>
                      <a:endParaRPr sz="2800" b="0" u="none" strike="noStrike" cap="none" dirty="0">
                        <a:solidFill>
                          <a:srgbClr val="F8F8F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63500" marR="63500" marT="63500" marB="63500">
                    <a:lnL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C34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7053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3A6DD-B474-95E1-7D0B-40B37BE4F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C57F025C-A705-9974-BBCE-FE7FCF7A0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1E4AE663-7D8B-2E1C-0123-82C822C0181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96" b="37143"/>
          <a:stretch>
            <a:fillRect/>
          </a:stretch>
        </p:blipFill>
        <p:spPr>
          <a:xfrm rot="10800000">
            <a:off x="0" y="3338064"/>
            <a:ext cx="12410990" cy="4423381"/>
          </a:xfrm>
          <a:prstGeom prst="rect">
            <a:avLst/>
          </a:prstGeom>
        </p:spPr>
      </p:pic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E0EF2302-2D39-D614-B8B8-842108D2B7EA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353800" y="5594350"/>
            <a:ext cx="838200" cy="365125"/>
          </a:xfrm>
        </p:spPr>
        <p:txBody>
          <a:bodyPr/>
          <a:lstStyle/>
          <a:p>
            <a:pPr lvl="0"/>
            <a:fld id="{00000000-1234-1234-1234-123412341234}" type="slidenum">
              <a:rPr lang="pt-BR" smtClean="0"/>
              <a:pPr lvl="0"/>
              <a:t>8</a:t>
            </a:fld>
            <a:endParaRPr lang="pt-BR"/>
          </a:p>
        </p:txBody>
      </p:sp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BF085A8D-C4DA-CBFE-4E0B-F638BDE95DF7}"/>
              </a:ext>
            </a:extLst>
          </p:cNvPr>
          <p:cNvCxnSpPr>
            <a:cxnSpLocks/>
          </p:cNvCxnSpPr>
          <p:nvPr/>
        </p:nvCxnSpPr>
        <p:spPr>
          <a:xfrm>
            <a:off x="856932" y="743587"/>
            <a:ext cx="0" cy="828040"/>
          </a:xfrm>
          <a:prstGeom prst="line">
            <a:avLst/>
          </a:prstGeom>
          <a:ln>
            <a:solidFill>
              <a:srgbClr val="ED145B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2" name="Google Shape;85;p6">
            <a:extLst>
              <a:ext uri="{FF2B5EF4-FFF2-40B4-BE49-F238E27FC236}">
                <a16:creationId xmlns:a16="http://schemas.microsoft.com/office/drawing/2014/main" id="{8E7BA5EB-2831-B883-EED3-34CCC182528F}"/>
              </a:ext>
            </a:extLst>
          </p:cNvPr>
          <p:cNvSpPr txBox="1">
            <a:spLocks/>
          </p:cNvSpPr>
          <p:nvPr/>
        </p:nvSpPr>
        <p:spPr>
          <a:xfrm>
            <a:off x="945515" y="664529"/>
            <a:ext cx="10300970" cy="986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20000"/>
              </a:lnSpc>
              <a:buClr>
                <a:srgbClr val="595959"/>
              </a:buClr>
              <a:buSzPct val="222222"/>
            </a:pPr>
            <a:r>
              <a:rPr lang="pt-BR" sz="4300" dirty="0" err="1">
                <a:solidFill>
                  <a:schemeClr val="bg1"/>
                </a:solidFill>
              </a:rPr>
              <a:t>Pseudo-classes</a:t>
            </a:r>
            <a:r>
              <a:rPr lang="pt-BR" sz="4300" dirty="0">
                <a:solidFill>
                  <a:schemeClr val="bg1"/>
                </a:solidFill>
              </a:rPr>
              <a:t> dinâmicas</a:t>
            </a:r>
            <a:br>
              <a:rPr lang="pt-BR" sz="4300" dirty="0">
                <a:solidFill>
                  <a:schemeClr val="tx2">
                    <a:lumMod val="90000"/>
                  </a:schemeClr>
                </a:solidFill>
              </a:rPr>
            </a:br>
            <a:r>
              <a:rPr lang="pt-BR" sz="2000" dirty="0">
                <a:solidFill>
                  <a:schemeClr val="tx2">
                    <a:lumMod val="90000"/>
                  </a:schemeClr>
                </a:solidFill>
              </a:rPr>
              <a:t>Controlam os estados dos elementos.</a:t>
            </a:r>
          </a:p>
        </p:txBody>
      </p:sp>
      <p:sp>
        <p:nvSpPr>
          <p:cNvPr id="23" name="Google Shape;87;p6">
            <a:extLst>
              <a:ext uri="{FF2B5EF4-FFF2-40B4-BE49-F238E27FC236}">
                <a16:creationId xmlns:a16="http://schemas.microsoft.com/office/drawing/2014/main" id="{27BF5A9C-80AE-615C-3609-D79747CB7EAC}"/>
              </a:ext>
            </a:extLst>
          </p:cNvPr>
          <p:cNvSpPr txBox="1"/>
          <p:nvPr/>
        </p:nvSpPr>
        <p:spPr>
          <a:xfrm>
            <a:off x="817562" y="1719810"/>
            <a:ext cx="6652200" cy="15978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rtl="0">
              <a:lnSpc>
                <a:spcPct val="150000"/>
              </a:lnSpc>
              <a:spcBef>
                <a:spcPts val="2000"/>
              </a:spcBef>
              <a:spcAft>
                <a:spcPts val="110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pt-BR" sz="4400" b="1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pt-BR" sz="4400" b="1" i="0" u="none" strike="noStrike" cap="none" dirty="0" err="1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focus</a:t>
            </a:r>
            <a:endParaRPr sz="4400" b="1" i="0" u="none" strike="noStrike" cap="none" dirty="0">
              <a:solidFill>
                <a:schemeClr val="tx2">
                  <a:lumMod val="90000"/>
                </a:schemeClr>
              </a:solidFill>
              <a:highlight>
                <a:schemeClr val="accent6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88;p6">
            <a:extLst>
              <a:ext uri="{FF2B5EF4-FFF2-40B4-BE49-F238E27FC236}">
                <a16:creationId xmlns:a16="http://schemas.microsoft.com/office/drawing/2014/main" id="{EF2C227D-9122-3889-8F98-FF8EE899870B}"/>
              </a:ext>
            </a:extLst>
          </p:cNvPr>
          <p:cNvSpPr txBox="1"/>
          <p:nvPr/>
        </p:nvSpPr>
        <p:spPr>
          <a:xfrm>
            <a:off x="711200" y="3105785"/>
            <a:ext cx="10642600" cy="985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algn="just">
              <a:buClr>
                <a:schemeClr val="dk1"/>
              </a:buClr>
              <a:buSzPts val="1800"/>
            </a:pPr>
            <a:r>
              <a:rPr lang="pt-BR" sz="2000" dirty="0">
                <a:solidFill>
                  <a:schemeClr val="tx2">
                    <a:lumMod val="90000"/>
                  </a:schemeClr>
                </a:solidFill>
              </a:rPr>
              <a:t>Usada para estilizar um elemento quando ele </a:t>
            </a:r>
            <a:r>
              <a:rPr lang="pt-BR" sz="2000" b="1" dirty="0">
                <a:solidFill>
                  <a:srgbClr val="ED145B"/>
                </a:solidFill>
              </a:rPr>
              <a:t>recebe foco</a:t>
            </a:r>
            <a:r>
              <a:rPr lang="pt-BR" sz="2000" dirty="0">
                <a:solidFill>
                  <a:schemeClr val="tx2">
                    <a:lumMod val="90000"/>
                  </a:schemeClr>
                </a:solidFill>
              </a:rPr>
              <a:t>. Muito comum em campos de texto. No momento em que clicamos sobre a caixa de texto para escrever ela está ganhando foco.</a:t>
            </a:r>
            <a:endParaRPr sz="2000" b="0" i="0" u="none" strike="noStrike" cap="none" dirty="0">
              <a:solidFill>
                <a:schemeClr val="tx2">
                  <a:lumMod val="9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2000" b="0" i="0" u="none" strike="noStrike" cap="none" dirty="0">
              <a:solidFill>
                <a:schemeClr val="tx2">
                  <a:lumMod val="9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2000" b="0" i="0" u="none" strike="noStrike" cap="none" dirty="0">
              <a:solidFill>
                <a:schemeClr val="tx2">
                  <a:lumMod val="9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2000" b="0" i="0" u="none" strike="noStrike" cap="none" dirty="0">
              <a:solidFill>
                <a:schemeClr val="tx2">
                  <a:lumMod val="9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A154683C-024A-159D-3D36-0BFC4C6BA5A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8328" b="37143"/>
          <a:stretch>
            <a:fillRect/>
          </a:stretch>
        </p:blipFill>
        <p:spPr>
          <a:xfrm>
            <a:off x="8229600" y="-773324"/>
            <a:ext cx="3962400" cy="4423381"/>
          </a:xfrm>
          <a:prstGeom prst="rect">
            <a:avLst/>
          </a:prstGeom>
        </p:spPr>
      </p:pic>
      <p:graphicFrame>
        <p:nvGraphicFramePr>
          <p:cNvPr id="6" name="Google Shape;116;p9">
            <a:extLst>
              <a:ext uri="{FF2B5EF4-FFF2-40B4-BE49-F238E27FC236}">
                <a16:creationId xmlns:a16="http://schemas.microsoft.com/office/drawing/2014/main" id="{682B7F37-7B8B-2701-A52E-902F77B64FE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59403313"/>
              </p:ext>
            </p:extLst>
          </p:nvPr>
        </p:nvGraphicFramePr>
        <p:xfrm>
          <a:off x="2844804" y="4495841"/>
          <a:ext cx="6322050" cy="1516375"/>
        </p:xfrm>
        <a:graphic>
          <a:graphicData uri="http://schemas.openxmlformats.org/drawingml/2006/table">
            <a:tbl>
              <a:tblPr>
                <a:noFill/>
                <a:tableStyleId>{63B152E9-AFB2-458E-BFAF-78D379E83702}</a:tableStyleId>
              </a:tblPr>
              <a:tblGrid>
                <a:gridCol w="6322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5163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pt-BR" sz="2800" b="0" u="none" strike="noStrike" cap="none" dirty="0" err="1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input</a:t>
                      </a:r>
                      <a:r>
                        <a:rPr lang="pt-BR" sz="2800" b="0" i="1" u="none" strike="noStrike" cap="none" dirty="0" err="1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</a:t>
                      </a:r>
                      <a:r>
                        <a:rPr lang="pt-BR" sz="2800" b="0" i="1" u="none" strike="noStrike" cap="none" dirty="0" err="1">
                          <a:solidFill>
                            <a:srgbClr val="50FA7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focus</a:t>
                      </a:r>
                      <a:r>
                        <a:rPr lang="pt-BR" sz="28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{</a:t>
                      </a:r>
                      <a:endParaRPr sz="2800" u="none" strike="noStrike" cap="none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pt-BR" sz="28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    </a:t>
                      </a:r>
                      <a:r>
                        <a:rPr lang="pt-BR" sz="2800" b="0" u="none" strike="noStrike" cap="none" dirty="0">
                          <a:solidFill>
                            <a:srgbClr val="8BE9FD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background-color</a:t>
                      </a:r>
                      <a:r>
                        <a:rPr lang="pt-BR" sz="2800" b="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</a:t>
                      </a:r>
                      <a:r>
                        <a:rPr lang="pt-BR" sz="28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pt-BR" sz="2800" b="0" u="none" strike="noStrike" cap="none" dirty="0" err="1">
                          <a:solidFill>
                            <a:srgbClr val="BD93F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yellow</a:t>
                      </a:r>
                      <a:r>
                        <a:rPr lang="pt-BR" sz="28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;</a:t>
                      </a:r>
                      <a:endParaRPr sz="2800" u="none" strike="noStrike" cap="none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pt-BR" sz="28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}</a:t>
                      </a:r>
                      <a:endParaRPr sz="2800" b="0" u="none" strike="noStrike" cap="none" dirty="0">
                        <a:solidFill>
                          <a:srgbClr val="F8F8F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63500" marR="63500" marT="63500" marB="63500">
                    <a:lnL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C34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05537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0"/>
          <p:cNvSpPr txBox="1">
            <a:spLocks noGrp="1"/>
          </p:cNvSpPr>
          <p:nvPr>
            <p:ph type="title"/>
          </p:nvPr>
        </p:nvSpPr>
        <p:spPr>
          <a:xfrm>
            <a:off x="838200" y="387985"/>
            <a:ext cx="10300970" cy="986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4400"/>
              <a:buFont typeface="Arial"/>
              <a:buNone/>
            </a:pPr>
            <a:r>
              <a:rPr lang="pt-BR"/>
              <a:t>Para Praticar!</a:t>
            </a:r>
            <a:endParaRPr/>
          </a:p>
        </p:txBody>
      </p:sp>
      <p:sp>
        <p:nvSpPr>
          <p:cNvPr id="123" name="Google Shape;123;p10"/>
          <p:cNvSpPr txBox="1"/>
          <p:nvPr/>
        </p:nvSpPr>
        <p:spPr>
          <a:xfrm>
            <a:off x="911860" y="1628775"/>
            <a:ext cx="9499600" cy="4549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pt-BR" sz="28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Descrição da atividade. </a:t>
            </a:r>
            <a:endParaRPr sz="28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Instruções: Crie alguns elementos usando as tags HTML e insira nesses elementos as pseudo-classes que aprendemos:</a:t>
            </a:r>
            <a:endParaRPr sz="2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143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DM Sans"/>
              <a:buChar char="✓"/>
            </a:pPr>
            <a:r>
              <a:rPr lang="pt-BR"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Hover</a:t>
            </a:r>
            <a:endParaRPr sz="2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143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DM Sans"/>
              <a:buChar char="✓"/>
            </a:pPr>
            <a:r>
              <a:rPr lang="pt-BR"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Active</a:t>
            </a:r>
            <a:endParaRPr sz="2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143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DM Sans"/>
              <a:buChar char="✓"/>
            </a:pPr>
            <a:r>
              <a:rPr lang="pt-BR"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Visited</a:t>
            </a:r>
            <a:endParaRPr sz="2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143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DM Sans"/>
              <a:buChar char="✓"/>
            </a:pPr>
            <a:r>
              <a:rPr lang="pt-BR"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Focus</a:t>
            </a:r>
            <a:endParaRPr sz="2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1CF933-984F-C354-820A-2395D7409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>
            <a:extLst>
              <a:ext uri="{FF2B5EF4-FFF2-40B4-BE49-F238E27FC236}">
                <a16:creationId xmlns:a16="http://schemas.microsoft.com/office/drawing/2014/main" id="{D48A15A2-90B8-0D3A-6AA1-F15BEDFC55C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5E2738F2-39B9-F4B6-BB37-7A6005386937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353800" y="5594350"/>
            <a:ext cx="838200" cy="365125"/>
          </a:xfrm>
        </p:spPr>
        <p:txBody>
          <a:bodyPr/>
          <a:lstStyle/>
          <a:p>
            <a:pPr lvl="0"/>
            <a:fld id="{00000000-1234-1234-1234-123412341234}" type="slidenum">
              <a:rPr lang="pt-BR" smtClean="0"/>
              <a:pPr lvl="0"/>
              <a:t>10</a:t>
            </a:fld>
            <a:endParaRPr lang="pt-BR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14D34A8C-1606-8DAB-EC13-C5C5D779A9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15900" y="-71438"/>
            <a:ext cx="12522201" cy="7043738"/>
          </a:xfrm>
          <a:prstGeom prst="rect">
            <a:avLst/>
          </a:prstGeom>
        </p:spPr>
      </p:pic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C6EEA2D4-21E2-6C37-80B9-ED79C003DF4E}"/>
              </a:ext>
            </a:extLst>
          </p:cNvPr>
          <p:cNvCxnSpPr>
            <a:cxnSpLocks/>
          </p:cNvCxnSpPr>
          <p:nvPr/>
        </p:nvCxnSpPr>
        <p:spPr>
          <a:xfrm>
            <a:off x="856932" y="743587"/>
            <a:ext cx="0" cy="828040"/>
          </a:xfrm>
          <a:prstGeom prst="line">
            <a:avLst/>
          </a:prstGeom>
          <a:ln>
            <a:solidFill>
              <a:srgbClr val="ED145B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2" name="Google Shape;85;p6">
            <a:extLst>
              <a:ext uri="{FF2B5EF4-FFF2-40B4-BE49-F238E27FC236}">
                <a16:creationId xmlns:a16="http://schemas.microsoft.com/office/drawing/2014/main" id="{3E2C7A9D-27FD-5960-C404-8C320F368F8E}"/>
              </a:ext>
            </a:extLst>
          </p:cNvPr>
          <p:cNvSpPr txBox="1">
            <a:spLocks/>
          </p:cNvSpPr>
          <p:nvPr/>
        </p:nvSpPr>
        <p:spPr>
          <a:xfrm>
            <a:off x="945515" y="664529"/>
            <a:ext cx="10300970" cy="986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20000"/>
              </a:lnSpc>
              <a:buClr>
                <a:srgbClr val="595959"/>
              </a:buClr>
              <a:buSzPct val="222222"/>
            </a:pPr>
            <a:r>
              <a:rPr lang="pt-BR" sz="4300" dirty="0" err="1">
                <a:solidFill>
                  <a:schemeClr val="bg1"/>
                </a:solidFill>
              </a:rPr>
              <a:t>Pseudo-classes</a:t>
            </a:r>
            <a:r>
              <a:rPr lang="pt-BR" sz="4300" dirty="0">
                <a:solidFill>
                  <a:schemeClr val="bg1"/>
                </a:solidFill>
              </a:rPr>
              <a:t> estruturais</a:t>
            </a:r>
            <a:br>
              <a:rPr lang="pt-BR" sz="4300" dirty="0">
                <a:solidFill>
                  <a:schemeClr val="tx2">
                    <a:lumMod val="90000"/>
                  </a:schemeClr>
                </a:solidFill>
              </a:rPr>
            </a:br>
            <a:r>
              <a:rPr lang="pt-BR" sz="2000" dirty="0">
                <a:solidFill>
                  <a:schemeClr val="tx2">
                    <a:lumMod val="90000"/>
                  </a:schemeClr>
                </a:solidFill>
              </a:rPr>
              <a:t>Servem para selecionar um elemento da estrutura do código.</a:t>
            </a:r>
          </a:p>
        </p:txBody>
      </p:sp>
      <p:sp>
        <p:nvSpPr>
          <p:cNvPr id="23" name="Google Shape;87;p6">
            <a:extLst>
              <a:ext uri="{FF2B5EF4-FFF2-40B4-BE49-F238E27FC236}">
                <a16:creationId xmlns:a16="http://schemas.microsoft.com/office/drawing/2014/main" id="{3A771CCF-00B2-73C2-4249-212936ED856D}"/>
              </a:ext>
            </a:extLst>
          </p:cNvPr>
          <p:cNvSpPr txBox="1"/>
          <p:nvPr/>
        </p:nvSpPr>
        <p:spPr>
          <a:xfrm>
            <a:off x="856932" y="1901055"/>
            <a:ext cx="6652200" cy="15978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rtl="0">
              <a:lnSpc>
                <a:spcPct val="150000"/>
              </a:lnSpc>
              <a:spcBef>
                <a:spcPts val="2000"/>
              </a:spcBef>
              <a:spcAft>
                <a:spcPts val="110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pt-BR" sz="4400" b="1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pt-BR" sz="4400" b="1" dirty="0" err="1">
                <a:solidFill>
                  <a:schemeClr val="tx2">
                    <a:lumMod val="90000"/>
                  </a:schemeClr>
                </a:solidFill>
              </a:rPr>
              <a:t>fist-child</a:t>
            </a:r>
            <a:r>
              <a:rPr lang="pt-BR" sz="4400" b="1" dirty="0">
                <a:solidFill>
                  <a:schemeClr val="tx2">
                    <a:lumMod val="90000"/>
                  </a:schemeClr>
                </a:solidFill>
              </a:rPr>
              <a:t> e :</a:t>
            </a:r>
            <a:r>
              <a:rPr lang="pt-BR" sz="4400" b="1" dirty="0" err="1">
                <a:solidFill>
                  <a:schemeClr val="tx2">
                    <a:lumMod val="90000"/>
                  </a:schemeClr>
                </a:solidFill>
              </a:rPr>
              <a:t>last-child</a:t>
            </a:r>
            <a:endParaRPr sz="4400" b="1" i="0" u="none" strike="noStrike" cap="none" dirty="0">
              <a:solidFill>
                <a:schemeClr val="tx2">
                  <a:lumMod val="90000"/>
                </a:schemeClr>
              </a:solidFill>
              <a:highlight>
                <a:schemeClr val="accent6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31;p11">
            <a:extLst>
              <a:ext uri="{FF2B5EF4-FFF2-40B4-BE49-F238E27FC236}">
                <a16:creationId xmlns:a16="http://schemas.microsoft.com/office/drawing/2014/main" id="{DE332816-77A3-4979-0FD4-26686FE5A14E}"/>
              </a:ext>
            </a:extLst>
          </p:cNvPr>
          <p:cNvSpPr txBox="1"/>
          <p:nvPr/>
        </p:nvSpPr>
        <p:spPr>
          <a:xfrm>
            <a:off x="736397" y="3247936"/>
            <a:ext cx="10719205" cy="1002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pt-BR" sz="2400" b="0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Usada para estilizar o </a:t>
            </a:r>
            <a:r>
              <a:rPr lang="pt-BR" sz="2400" b="1" i="0" u="none" strike="noStrike" cap="none" dirty="0">
                <a:solidFill>
                  <a:srgbClr val="ED145B"/>
                </a:solidFill>
                <a:latin typeface="Arial"/>
                <a:ea typeface="Arial"/>
                <a:cs typeface="Arial"/>
                <a:sym typeface="Arial"/>
              </a:rPr>
              <a:t>primeiro filho (</a:t>
            </a:r>
            <a:r>
              <a:rPr lang="pt-BR" sz="2400" b="1" i="0" u="none" strike="noStrike" cap="none" dirty="0" err="1">
                <a:solidFill>
                  <a:srgbClr val="ED145B"/>
                </a:solidFill>
                <a:latin typeface="Arial"/>
                <a:ea typeface="Arial"/>
                <a:cs typeface="Arial"/>
                <a:sym typeface="Arial"/>
              </a:rPr>
              <a:t>first-child</a:t>
            </a:r>
            <a:r>
              <a:rPr lang="pt-BR" sz="2400" b="1" i="0" u="none" strike="noStrike" cap="none" dirty="0">
                <a:solidFill>
                  <a:srgbClr val="ED145B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r>
              <a:rPr lang="pt-BR" sz="2400" b="0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 ou o </a:t>
            </a:r>
            <a:r>
              <a:rPr lang="pt-BR" sz="2400" b="1" i="0" u="none" strike="noStrike" cap="none" dirty="0">
                <a:solidFill>
                  <a:srgbClr val="ED145B"/>
                </a:solidFill>
                <a:latin typeface="Arial"/>
                <a:ea typeface="Arial"/>
                <a:cs typeface="Arial"/>
                <a:sym typeface="Arial"/>
              </a:rPr>
              <a:t>último filho (</a:t>
            </a:r>
            <a:r>
              <a:rPr lang="pt-BR" sz="2400" b="1" i="0" u="none" strike="noStrike" cap="none" dirty="0" err="1">
                <a:solidFill>
                  <a:srgbClr val="ED145B"/>
                </a:solidFill>
                <a:latin typeface="Arial"/>
                <a:ea typeface="Arial"/>
                <a:cs typeface="Arial"/>
                <a:sym typeface="Arial"/>
              </a:rPr>
              <a:t>last-child</a:t>
            </a:r>
            <a:r>
              <a:rPr lang="pt-BR" sz="2400" b="1" i="0" u="none" strike="noStrike" cap="none" dirty="0">
                <a:solidFill>
                  <a:srgbClr val="ED145B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r>
              <a:rPr lang="pt-BR" sz="2400" b="0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 dentro de uma sequência do mesmo elemento.</a:t>
            </a:r>
            <a:endParaRPr sz="2400" b="0" i="0" u="none" strike="noStrike" cap="none" dirty="0">
              <a:solidFill>
                <a:schemeClr val="tx2">
                  <a:lumMod val="9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200" b="0" i="0" u="none" strike="noStrike" cap="none" dirty="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200" b="0" i="0" u="none" strike="noStrike" cap="none" dirty="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2200" b="0" i="0" u="none" strike="noStrike" cap="none" dirty="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2200" b="0" i="0" u="none" strike="noStrike" cap="none" dirty="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2200" b="0" i="0" u="none" strike="noStrike" cap="none" dirty="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4" name="Google Shape;132;p11">
            <a:extLst>
              <a:ext uri="{FF2B5EF4-FFF2-40B4-BE49-F238E27FC236}">
                <a16:creationId xmlns:a16="http://schemas.microsoft.com/office/drawing/2014/main" id="{9FB6166D-37B3-0DA7-3A1B-40E823F7755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98692989"/>
              </p:ext>
            </p:extLst>
          </p:nvPr>
        </p:nvGraphicFramePr>
        <p:xfrm>
          <a:off x="6623111" y="4727073"/>
          <a:ext cx="3380100" cy="1224281"/>
        </p:xfrm>
        <a:graphic>
          <a:graphicData uri="http://schemas.openxmlformats.org/drawingml/2006/table">
            <a:tbl>
              <a:tblPr>
                <a:noFill/>
                <a:tableStyleId>{63B152E9-AFB2-458E-BFAF-78D379E83702}</a:tableStyleId>
              </a:tblPr>
              <a:tblGrid>
                <a:gridCol w="3380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24281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400" b="0" i="0" u="none" strike="noStrike" cap="none" dirty="0" err="1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li</a:t>
                      </a:r>
                      <a:r>
                        <a:rPr lang="pt-BR" sz="2400" b="0" i="1" u="none" strike="noStrike" cap="none" dirty="0" err="1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</a:t>
                      </a:r>
                      <a:r>
                        <a:rPr lang="pt-BR" sz="2400" b="0" i="1" u="none" strike="noStrike" cap="none" dirty="0" err="1">
                          <a:solidFill>
                            <a:srgbClr val="50FA7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last-child</a:t>
                      </a:r>
                      <a:r>
                        <a:rPr lang="pt-BR" sz="2400" b="0" i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{ </a:t>
                      </a:r>
                      <a:endParaRPr sz="2400" u="none" strike="noStrike" cap="none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400" b="0" i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    </a:t>
                      </a:r>
                      <a:r>
                        <a:rPr lang="pt-BR" sz="2400" b="0" i="0" u="none" strike="noStrike" cap="none" dirty="0">
                          <a:solidFill>
                            <a:srgbClr val="8BE9FD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color</a:t>
                      </a:r>
                      <a:r>
                        <a:rPr lang="pt-BR" sz="2400" b="0" i="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</a:t>
                      </a:r>
                      <a:r>
                        <a:rPr lang="pt-BR" sz="2400" b="0" i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pt-BR" sz="2400" b="0" i="0" u="none" strike="noStrike" cap="none" dirty="0" err="1">
                          <a:solidFill>
                            <a:srgbClr val="BD93F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red</a:t>
                      </a:r>
                      <a:r>
                        <a:rPr lang="pt-BR" sz="2400" b="0" i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; </a:t>
                      </a:r>
                      <a:endParaRPr sz="2400" u="none" strike="noStrike" cap="none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400" b="0" i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}</a:t>
                      </a:r>
                      <a:endParaRPr sz="2400" b="0" i="0" u="none" strike="noStrike" cap="none" dirty="0">
                        <a:solidFill>
                          <a:srgbClr val="F8F8F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63500" marR="63500" marT="63500" marB="63500">
                    <a:lnL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C34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" name="Google Shape;132;p11">
            <a:extLst>
              <a:ext uri="{FF2B5EF4-FFF2-40B4-BE49-F238E27FC236}">
                <a16:creationId xmlns:a16="http://schemas.microsoft.com/office/drawing/2014/main" id="{B5319B39-64AA-CFED-AB11-7F6A51A3558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48257197"/>
              </p:ext>
            </p:extLst>
          </p:nvPr>
        </p:nvGraphicFramePr>
        <p:xfrm>
          <a:off x="1902630" y="4730816"/>
          <a:ext cx="3380100" cy="1224280"/>
        </p:xfrm>
        <a:graphic>
          <a:graphicData uri="http://schemas.openxmlformats.org/drawingml/2006/table">
            <a:tbl>
              <a:tblPr>
                <a:noFill/>
                <a:tableStyleId>{63B152E9-AFB2-458E-BFAF-78D379E83702}</a:tableStyleId>
              </a:tblPr>
              <a:tblGrid>
                <a:gridCol w="3380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0763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400" b="0" u="none" strike="noStrike" cap="none" dirty="0" err="1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li</a:t>
                      </a:r>
                      <a:r>
                        <a:rPr lang="pt-BR" sz="2400" b="0" i="1" u="none" strike="noStrike" cap="none" dirty="0" err="1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</a:t>
                      </a:r>
                      <a:r>
                        <a:rPr lang="pt-BR" sz="2400" b="0" i="1" u="none" strike="noStrike" cap="none" dirty="0" err="1">
                          <a:solidFill>
                            <a:srgbClr val="50FA7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first-child</a:t>
                      </a: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{ </a:t>
                      </a:r>
                      <a:endParaRPr sz="2400" u="none" strike="noStrike" cap="none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    </a:t>
                      </a:r>
                      <a:r>
                        <a:rPr lang="pt-BR" sz="2400" b="0" u="none" strike="noStrike" cap="none" dirty="0">
                          <a:solidFill>
                            <a:srgbClr val="8BE9FD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color</a:t>
                      </a:r>
                      <a:r>
                        <a:rPr lang="pt-BR" sz="2400" b="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</a:t>
                      </a: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pt-BR" sz="2400" b="0" u="none" strike="noStrike" cap="none" dirty="0" err="1">
                          <a:solidFill>
                            <a:srgbClr val="BD93F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orange</a:t>
                      </a: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; </a:t>
                      </a:r>
                      <a:endParaRPr sz="2400" u="none" strike="noStrike" cap="none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}</a:t>
                      </a:r>
                      <a:endParaRPr sz="2400" b="0" i="0" u="none" strike="noStrike" cap="none" dirty="0">
                        <a:solidFill>
                          <a:srgbClr val="F8F8F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63500" marR="63500" marT="63500" marB="63500">
                    <a:lnL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C34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815976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74F97-BA41-5EFF-5004-28CF4248A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>
            <a:extLst>
              <a:ext uri="{FF2B5EF4-FFF2-40B4-BE49-F238E27FC236}">
                <a16:creationId xmlns:a16="http://schemas.microsoft.com/office/drawing/2014/main" id="{D1F148FE-360C-B24E-97A0-6EC47F508D1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5F06AD41-DEA4-606B-EF83-11A432FE6EDD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353800" y="5594350"/>
            <a:ext cx="838200" cy="365125"/>
          </a:xfrm>
        </p:spPr>
        <p:txBody>
          <a:bodyPr/>
          <a:lstStyle/>
          <a:p>
            <a:pPr lvl="0"/>
            <a:fld id="{00000000-1234-1234-1234-123412341234}" type="slidenum">
              <a:rPr lang="pt-BR" smtClean="0"/>
              <a:pPr lvl="0"/>
              <a:t>11</a:t>
            </a:fld>
            <a:endParaRPr lang="pt-BR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B60DC4A-333B-42D7-8D2A-61F8D6656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15900" y="-71438"/>
            <a:ext cx="12522201" cy="7043738"/>
          </a:xfrm>
          <a:prstGeom prst="rect">
            <a:avLst/>
          </a:prstGeom>
        </p:spPr>
      </p:pic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8E810E30-90E1-5B35-B456-42C49C7D43CB}"/>
              </a:ext>
            </a:extLst>
          </p:cNvPr>
          <p:cNvCxnSpPr>
            <a:cxnSpLocks/>
          </p:cNvCxnSpPr>
          <p:nvPr/>
        </p:nvCxnSpPr>
        <p:spPr>
          <a:xfrm>
            <a:off x="856932" y="743587"/>
            <a:ext cx="0" cy="828040"/>
          </a:xfrm>
          <a:prstGeom prst="line">
            <a:avLst/>
          </a:prstGeom>
          <a:ln>
            <a:solidFill>
              <a:srgbClr val="ED145B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2" name="Google Shape;85;p6">
            <a:extLst>
              <a:ext uri="{FF2B5EF4-FFF2-40B4-BE49-F238E27FC236}">
                <a16:creationId xmlns:a16="http://schemas.microsoft.com/office/drawing/2014/main" id="{5E57289C-2EAD-3627-7A7E-FD7C7D456CED}"/>
              </a:ext>
            </a:extLst>
          </p:cNvPr>
          <p:cNvSpPr txBox="1">
            <a:spLocks/>
          </p:cNvSpPr>
          <p:nvPr/>
        </p:nvSpPr>
        <p:spPr>
          <a:xfrm>
            <a:off x="945515" y="664529"/>
            <a:ext cx="10300970" cy="986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20000"/>
              </a:lnSpc>
              <a:buClr>
                <a:srgbClr val="595959"/>
              </a:buClr>
              <a:buSzPct val="222222"/>
            </a:pPr>
            <a:r>
              <a:rPr lang="pt-BR" sz="4300" dirty="0" err="1">
                <a:solidFill>
                  <a:schemeClr val="bg1"/>
                </a:solidFill>
              </a:rPr>
              <a:t>Pseudo-classes</a:t>
            </a:r>
            <a:r>
              <a:rPr lang="pt-BR" sz="4300" dirty="0">
                <a:solidFill>
                  <a:schemeClr val="bg1"/>
                </a:solidFill>
              </a:rPr>
              <a:t> estruturais</a:t>
            </a:r>
            <a:br>
              <a:rPr lang="pt-BR" sz="4300" dirty="0">
                <a:solidFill>
                  <a:schemeClr val="tx2">
                    <a:lumMod val="90000"/>
                  </a:schemeClr>
                </a:solidFill>
              </a:rPr>
            </a:br>
            <a:r>
              <a:rPr lang="pt-BR" sz="2000" dirty="0">
                <a:solidFill>
                  <a:schemeClr val="tx2">
                    <a:lumMod val="90000"/>
                  </a:schemeClr>
                </a:solidFill>
              </a:rPr>
              <a:t>Servem para selecionar um elemento da estrutura do código.</a:t>
            </a:r>
          </a:p>
        </p:txBody>
      </p:sp>
      <p:sp>
        <p:nvSpPr>
          <p:cNvPr id="23" name="Google Shape;87;p6">
            <a:extLst>
              <a:ext uri="{FF2B5EF4-FFF2-40B4-BE49-F238E27FC236}">
                <a16:creationId xmlns:a16="http://schemas.microsoft.com/office/drawing/2014/main" id="{61A30026-925D-E87D-1119-17AEC6072984}"/>
              </a:ext>
            </a:extLst>
          </p:cNvPr>
          <p:cNvSpPr txBox="1"/>
          <p:nvPr/>
        </p:nvSpPr>
        <p:spPr>
          <a:xfrm>
            <a:off x="856932" y="1650684"/>
            <a:ext cx="6652200" cy="15978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rtl="0">
              <a:lnSpc>
                <a:spcPct val="150000"/>
              </a:lnSpc>
              <a:spcBef>
                <a:spcPts val="2000"/>
              </a:spcBef>
              <a:spcAft>
                <a:spcPts val="110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pt-BR" sz="4400" b="1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pt-BR" sz="4400" b="1" i="0" u="none" strike="noStrike" cap="none" dirty="0" err="1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nth-child</a:t>
            </a:r>
            <a:r>
              <a:rPr lang="pt-BR" sz="4400" b="1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()</a:t>
            </a:r>
            <a:endParaRPr sz="4400" b="1" i="0" u="none" strike="noStrike" cap="none" dirty="0">
              <a:solidFill>
                <a:schemeClr val="tx2">
                  <a:lumMod val="90000"/>
                </a:schemeClr>
              </a:solidFill>
              <a:highlight>
                <a:schemeClr val="accent6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88;p6">
            <a:extLst>
              <a:ext uri="{FF2B5EF4-FFF2-40B4-BE49-F238E27FC236}">
                <a16:creationId xmlns:a16="http://schemas.microsoft.com/office/drawing/2014/main" id="{8B6C823B-E667-2EF1-837D-1CF96CD47C4B}"/>
              </a:ext>
            </a:extLst>
          </p:cNvPr>
          <p:cNvSpPr txBox="1"/>
          <p:nvPr/>
        </p:nvSpPr>
        <p:spPr>
          <a:xfrm>
            <a:off x="896302" y="3036658"/>
            <a:ext cx="10297795" cy="10155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algn="just">
              <a:buClr>
                <a:schemeClr val="dk1"/>
              </a:buClr>
              <a:buSzPts val="1800"/>
            </a:pPr>
            <a:r>
              <a:rPr lang="pt-BR" sz="2200" dirty="0">
                <a:solidFill>
                  <a:schemeClr val="tx2">
                    <a:lumMod val="90000"/>
                  </a:schemeClr>
                </a:solidFill>
              </a:rPr>
              <a:t>Permite a seleção de </a:t>
            </a:r>
            <a:r>
              <a:rPr lang="pt-BR" sz="2200" b="1" dirty="0">
                <a:solidFill>
                  <a:srgbClr val="ED145B"/>
                </a:solidFill>
              </a:rPr>
              <a:t>qualquer elemento no meio de um grupo</a:t>
            </a:r>
            <a:r>
              <a:rPr lang="pt-BR" sz="2200" dirty="0">
                <a:solidFill>
                  <a:schemeClr val="tx2">
                    <a:lumMod val="90000"/>
                  </a:schemeClr>
                </a:solidFill>
              </a:rPr>
              <a:t> de elementos. Por exemplo, você pode selecionar linhas de uma tabela. Assim, podemos fazer uma tabela zebrada sem a ajuda de </a:t>
            </a:r>
            <a:r>
              <a:rPr lang="pt-BR" sz="2200" dirty="0" err="1">
                <a:solidFill>
                  <a:schemeClr val="tx2">
                    <a:lumMod val="90000"/>
                  </a:schemeClr>
                </a:solidFill>
              </a:rPr>
              <a:t>javascript</a:t>
            </a:r>
            <a:r>
              <a:rPr lang="pt-BR" sz="2200" dirty="0">
                <a:solidFill>
                  <a:schemeClr val="tx2">
                    <a:lumMod val="90000"/>
                  </a:schemeClr>
                </a:solidFill>
              </a:rPr>
              <a:t>. 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200" b="0" i="0" u="none" strike="noStrike" cap="none" dirty="0">
              <a:solidFill>
                <a:schemeClr val="tx2">
                  <a:lumMod val="9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2200" b="0" i="0" u="none" strike="noStrike" cap="none" dirty="0">
              <a:solidFill>
                <a:schemeClr val="tx2">
                  <a:lumMod val="9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2200" b="0" i="0" u="none" strike="noStrike" cap="none" dirty="0">
              <a:solidFill>
                <a:schemeClr val="tx2">
                  <a:lumMod val="9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2200" b="0" i="0" u="none" strike="noStrike" cap="none" dirty="0">
              <a:solidFill>
                <a:schemeClr val="tx2">
                  <a:lumMod val="9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Google Shape;141;p12">
            <a:extLst>
              <a:ext uri="{FF2B5EF4-FFF2-40B4-BE49-F238E27FC236}">
                <a16:creationId xmlns:a16="http://schemas.microsoft.com/office/drawing/2014/main" id="{B904D4B9-C9FE-FE5A-1E5A-0A10703F973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55377309"/>
              </p:ext>
            </p:extLst>
          </p:nvPr>
        </p:nvGraphicFramePr>
        <p:xfrm>
          <a:off x="1919513" y="4637742"/>
          <a:ext cx="4419600" cy="1353825"/>
        </p:xfrm>
        <a:graphic>
          <a:graphicData uri="http://schemas.openxmlformats.org/drawingml/2006/table">
            <a:tbl>
              <a:tblPr>
                <a:noFill/>
                <a:tableStyleId>{63B152E9-AFB2-458E-BFAF-78D379E83702}</a:tableStyleId>
              </a:tblPr>
              <a:tblGrid>
                <a:gridCol w="441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3538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400" b="0" u="none" strike="noStrike" cap="none" dirty="0" err="1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li</a:t>
                      </a:r>
                      <a:r>
                        <a:rPr lang="pt-BR" sz="2400" b="0" i="1" u="none" strike="noStrike" cap="none" dirty="0" err="1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</a:t>
                      </a:r>
                      <a:r>
                        <a:rPr lang="pt-BR" sz="2400" b="0" i="1" u="none" strike="noStrike" cap="none" dirty="0" err="1">
                          <a:solidFill>
                            <a:srgbClr val="50FA7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nth-child</a:t>
                      </a:r>
                      <a:r>
                        <a:rPr lang="pt-BR" sz="2400" b="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</a:t>
                      </a:r>
                      <a:r>
                        <a:rPr lang="pt-BR" sz="2400" b="0" u="none" strike="noStrike" cap="none" dirty="0">
                          <a:solidFill>
                            <a:srgbClr val="BD93F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2n+1</a:t>
                      </a:r>
                      <a:r>
                        <a:rPr lang="pt-BR" sz="2400" b="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)</a:t>
                      </a: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{ </a:t>
                      </a:r>
                      <a:endParaRPr sz="2400" u="none" strike="noStrike" cap="none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    </a:t>
                      </a:r>
                      <a:r>
                        <a:rPr lang="pt-BR" sz="2400" b="0" u="none" strike="noStrike" cap="none" dirty="0">
                          <a:solidFill>
                            <a:srgbClr val="8BE9FD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color</a:t>
                      </a:r>
                      <a:r>
                        <a:rPr lang="pt-BR" sz="2400" b="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</a:t>
                      </a: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pt-BR" sz="2400" b="0" u="none" strike="noStrike" cap="none" dirty="0" err="1">
                          <a:solidFill>
                            <a:srgbClr val="BD93F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green</a:t>
                      </a: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; </a:t>
                      </a:r>
                      <a:endParaRPr sz="2400" u="none" strike="noStrike" cap="none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}</a:t>
                      </a:r>
                      <a:endParaRPr sz="2400" b="0" u="none" strike="noStrike" cap="none" dirty="0">
                        <a:solidFill>
                          <a:srgbClr val="F8F8F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63500" marR="63500" marT="63500" marB="63500">
                    <a:lnL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C34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" name="Google Shape;88;p6">
            <a:extLst>
              <a:ext uri="{FF2B5EF4-FFF2-40B4-BE49-F238E27FC236}">
                <a16:creationId xmlns:a16="http://schemas.microsoft.com/office/drawing/2014/main" id="{93536554-A14C-40B5-16C3-A1F79DF88CE3}"/>
              </a:ext>
            </a:extLst>
          </p:cNvPr>
          <p:cNvSpPr txBox="1"/>
          <p:nvPr/>
        </p:nvSpPr>
        <p:spPr>
          <a:xfrm>
            <a:off x="6555013" y="4634501"/>
            <a:ext cx="3822701" cy="1353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800" b="1" i="0" u="none" strike="noStrike" cap="none" dirty="0">
                <a:solidFill>
                  <a:srgbClr val="ED145B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r>
              <a:rPr lang="pt-BR" sz="1800" b="0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 é o intervalo</a:t>
            </a:r>
          </a:p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800" b="1" dirty="0">
                <a:solidFill>
                  <a:srgbClr val="ED145B"/>
                </a:solidFill>
              </a:rPr>
              <a:t>N</a:t>
            </a:r>
            <a:r>
              <a:rPr lang="pt-BR" sz="1800" dirty="0">
                <a:solidFill>
                  <a:schemeClr val="tx2">
                    <a:lumMod val="90000"/>
                  </a:schemeClr>
                </a:solidFill>
              </a:rPr>
              <a:t> é o contador (inicia em 0)</a:t>
            </a:r>
          </a:p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800" b="1" i="0" u="none" strike="noStrike" cap="none" dirty="0">
                <a:solidFill>
                  <a:srgbClr val="ED145B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r>
              <a:rPr lang="pt-BR" sz="1800" b="0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 é o de</a:t>
            </a:r>
            <a:r>
              <a:rPr lang="pt-BR" sz="1800" dirty="0">
                <a:solidFill>
                  <a:schemeClr val="tx2">
                    <a:lumMod val="90000"/>
                  </a:schemeClr>
                </a:solidFill>
              </a:rPr>
              <a:t>slocamento inicial</a:t>
            </a:r>
          </a:p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800" b="0" i="0" u="none" strike="noStrike" cap="none" dirty="0" err="1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Ex</a:t>
            </a:r>
            <a:r>
              <a:rPr lang="pt-BR" sz="1800" b="0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: início em 1 + 2 =&gt; 1, 3, 5, 7</a:t>
            </a:r>
            <a:endParaRPr sz="1800" b="0" i="0" u="none" strike="noStrike" cap="none" dirty="0">
              <a:solidFill>
                <a:schemeClr val="tx2">
                  <a:lumMod val="9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2200" b="0" i="0" u="none" strike="noStrike" cap="none" dirty="0">
              <a:solidFill>
                <a:schemeClr val="tx2">
                  <a:lumMod val="9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2200" b="0" i="0" u="none" strike="noStrike" cap="none" dirty="0">
              <a:solidFill>
                <a:schemeClr val="tx2">
                  <a:lumMod val="9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2200" b="0" i="0" u="none" strike="noStrike" cap="none" dirty="0">
              <a:solidFill>
                <a:schemeClr val="tx2">
                  <a:lumMod val="9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06038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70027-6FF5-4AB8-1805-FDE2BCDEE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>
            <a:extLst>
              <a:ext uri="{FF2B5EF4-FFF2-40B4-BE49-F238E27FC236}">
                <a16:creationId xmlns:a16="http://schemas.microsoft.com/office/drawing/2014/main" id="{E04EFED8-2372-DF52-9DC3-73805C02483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280A9F55-979B-903F-4D6B-5537715FA9FD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353800" y="5594350"/>
            <a:ext cx="838200" cy="365125"/>
          </a:xfrm>
        </p:spPr>
        <p:txBody>
          <a:bodyPr/>
          <a:lstStyle/>
          <a:p>
            <a:pPr lvl="0"/>
            <a:fld id="{00000000-1234-1234-1234-123412341234}" type="slidenum">
              <a:rPr lang="pt-BR" smtClean="0"/>
              <a:pPr lvl="0"/>
              <a:t>12</a:t>
            </a:fld>
            <a:endParaRPr lang="pt-BR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06A4ABAA-E76D-CB8C-226A-BFCA6641E6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15900" y="-71438"/>
            <a:ext cx="12522201" cy="7043738"/>
          </a:xfrm>
          <a:prstGeom prst="rect">
            <a:avLst/>
          </a:prstGeom>
        </p:spPr>
      </p:pic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A3D73A02-589D-D2AB-A85B-801D53882A14}"/>
              </a:ext>
            </a:extLst>
          </p:cNvPr>
          <p:cNvCxnSpPr>
            <a:cxnSpLocks/>
          </p:cNvCxnSpPr>
          <p:nvPr/>
        </p:nvCxnSpPr>
        <p:spPr>
          <a:xfrm>
            <a:off x="856932" y="743587"/>
            <a:ext cx="0" cy="828040"/>
          </a:xfrm>
          <a:prstGeom prst="line">
            <a:avLst/>
          </a:prstGeom>
          <a:ln>
            <a:solidFill>
              <a:srgbClr val="ED145B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2" name="Google Shape;85;p6">
            <a:extLst>
              <a:ext uri="{FF2B5EF4-FFF2-40B4-BE49-F238E27FC236}">
                <a16:creationId xmlns:a16="http://schemas.microsoft.com/office/drawing/2014/main" id="{47D751AD-13B5-2FE7-CF4B-8D9B6067E16E}"/>
              </a:ext>
            </a:extLst>
          </p:cNvPr>
          <p:cNvSpPr txBox="1">
            <a:spLocks/>
          </p:cNvSpPr>
          <p:nvPr/>
        </p:nvSpPr>
        <p:spPr>
          <a:xfrm>
            <a:off x="945515" y="664529"/>
            <a:ext cx="10300970" cy="986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20000"/>
              </a:lnSpc>
              <a:buClr>
                <a:srgbClr val="595959"/>
              </a:buClr>
              <a:buSzPct val="222222"/>
            </a:pPr>
            <a:r>
              <a:rPr lang="pt-BR" sz="4300" dirty="0" err="1">
                <a:solidFill>
                  <a:schemeClr val="bg1"/>
                </a:solidFill>
              </a:rPr>
              <a:t>Pseudo-classes</a:t>
            </a:r>
            <a:r>
              <a:rPr lang="pt-BR" sz="4300" dirty="0">
                <a:solidFill>
                  <a:schemeClr val="bg1"/>
                </a:solidFill>
              </a:rPr>
              <a:t> estruturais</a:t>
            </a:r>
            <a:br>
              <a:rPr lang="pt-BR" sz="4300" dirty="0">
                <a:solidFill>
                  <a:schemeClr val="tx2">
                    <a:lumMod val="90000"/>
                  </a:schemeClr>
                </a:solidFill>
              </a:rPr>
            </a:br>
            <a:r>
              <a:rPr lang="pt-BR" sz="2000" dirty="0">
                <a:solidFill>
                  <a:schemeClr val="tx2">
                    <a:lumMod val="90000"/>
                  </a:schemeClr>
                </a:solidFill>
              </a:rPr>
              <a:t>Servem para selecionar um elemento da estrutura do código.</a:t>
            </a:r>
          </a:p>
        </p:txBody>
      </p:sp>
      <p:sp>
        <p:nvSpPr>
          <p:cNvPr id="23" name="Google Shape;87;p6">
            <a:extLst>
              <a:ext uri="{FF2B5EF4-FFF2-40B4-BE49-F238E27FC236}">
                <a16:creationId xmlns:a16="http://schemas.microsoft.com/office/drawing/2014/main" id="{6014C850-4495-60A7-BB25-DD3194EB1365}"/>
              </a:ext>
            </a:extLst>
          </p:cNvPr>
          <p:cNvSpPr txBox="1"/>
          <p:nvPr/>
        </p:nvSpPr>
        <p:spPr>
          <a:xfrm>
            <a:off x="856932" y="1831157"/>
            <a:ext cx="6652200" cy="15978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rtl="0">
              <a:lnSpc>
                <a:spcPct val="150000"/>
              </a:lnSpc>
              <a:spcBef>
                <a:spcPts val="2000"/>
              </a:spcBef>
              <a:spcAft>
                <a:spcPts val="110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pt-BR" sz="4400" b="1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pt-BR" sz="4400" b="1" i="0" u="none" strike="noStrike" cap="none" dirty="0" err="1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not</a:t>
            </a:r>
            <a:r>
              <a:rPr lang="pt-BR" sz="4400" b="1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()</a:t>
            </a:r>
            <a:endParaRPr sz="4400" b="1" i="0" u="none" strike="noStrike" cap="none" dirty="0">
              <a:solidFill>
                <a:schemeClr val="tx2">
                  <a:lumMod val="90000"/>
                </a:schemeClr>
              </a:solidFill>
              <a:highlight>
                <a:schemeClr val="accent6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49;p13">
            <a:extLst>
              <a:ext uri="{FF2B5EF4-FFF2-40B4-BE49-F238E27FC236}">
                <a16:creationId xmlns:a16="http://schemas.microsoft.com/office/drawing/2014/main" id="{4E7D7E80-61DE-264B-949A-B933CE7F1017}"/>
              </a:ext>
            </a:extLst>
          </p:cNvPr>
          <p:cNvSpPr txBox="1"/>
          <p:nvPr/>
        </p:nvSpPr>
        <p:spPr>
          <a:xfrm>
            <a:off x="783272" y="3161030"/>
            <a:ext cx="10625455" cy="1434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pt-BR" sz="2400" b="0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Também conhecida como </a:t>
            </a:r>
            <a:r>
              <a:rPr lang="pt-BR" sz="2400" b="0" i="0" u="none" strike="noStrike" cap="none" dirty="0" err="1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pseudo-classe</a:t>
            </a:r>
            <a:r>
              <a:rPr lang="pt-BR" sz="2400" b="0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 de </a:t>
            </a:r>
            <a:r>
              <a:rPr lang="pt-BR" sz="2400" b="1" i="0" u="none" strike="noStrike" cap="none" dirty="0">
                <a:solidFill>
                  <a:srgbClr val="ED145B"/>
                </a:solidFill>
                <a:latin typeface="Arial"/>
                <a:ea typeface="Arial"/>
                <a:cs typeface="Arial"/>
                <a:sym typeface="Arial"/>
              </a:rPr>
              <a:t>negação</a:t>
            </a:r>
            <a:r>
              <a:rPr lang="pt-BR" sz="2400" b="0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. Ela aceita um argumento — basicamente um outro "</a:t>
            </a:r>
            <a:r>
              <a:rPr lang="pt-BR" sz="2400" b="0" i="0" u="none" strike="noStrike" cap="none" dirty="0" err="1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selector</a:t>
            </a:r>
            <a:r>
              <a:rPr lang="pt-BR" sz="2400" b="0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" — escrito entre sinais de parênteses. O argumento poderá ser, também, uma </a:t>
            </a:r>
            <a:r>
              <a:rPr lang="pt-BR" sz="2400" b="0" i="0" u="none" strike="noStrike" cap="none" dirty="0" err="1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pseudo-classe</a:t>
            </a:r>
            <a:r>
              <a:rPr lang="pt-BR" sz="2400" b="0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2400" b="0" i="0" u="none" strike="noStrike" cap="none" dirty="0">
              <a:solidFill>
                <a:schemeClr val="tx2">
                  <a:lumMod val="9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  <a:p>
            <a:pPr marL="11430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2400" b="0" i="0" u="none" strike="noStrike" cap="none" dirty="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1430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2400" b="0" i="0" u="none" strike="noStrike" cap="none" dirty="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1430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2400" b="0" i="0" u="none" strike="noStrike" cap="none" dirty="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0" i="0" u="none" strike="noStrike" cap="none" dirty="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0" i="0" u="none" strike="noStrike" cap="none" dirty="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2400" b="0" i="0" u="none" strike="noStrike" cap="none" dirty="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2400" b="0" i="0" u="none" strike="noStrike" cap="none" dirty="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2400" b="0" i="0" u="none" strike="noStrike" cap="none" dirty="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4" name="Google Shape;150;p13">
            <a:extLst>
              <a:ext uri="{FF2B5EF4-FFF2-40B4-BE49-F238E27FC236}">
                <a16:creationId xmlns:a16="http://schemas.microsoft.com/office/drawing/2014/main" id="{58680DB1-A98F-F9F9-19D5-B1686F89959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06728866"/>
              </p:ext>
            </p:extLst>
          </p:nvPr>
        </p:nvGraphicFramePr>
        <p:xfrm>
          <a:off x="3708400" y="4798575"/>
          <a:ext cx="4775200" cy="1355100"/>
        </p:xfrm>
        <a:graphic>
          <a:graphicData uri="http://schemas.openxmlformats.org/drawingml/2006/table">
            <a:tbl>
              <a:tblPr>
                <a:noFill/>
                <a:tableStyleId>{63B152E9-AFB2-458E-BFAF-78D379E83702}</a:tableStyleId>
              </a:tblPr>
              <a:tblGrid>
                <a:gridCol w="477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3551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400" b="0" u="none" strike="noStrike" cap="none" dirty="0" err="1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li</a:t>
                      </a:r>
                      <a:r>
                        <a:rPr lang="pt-BR" sz="2400" b="0" i="1" u="none" strike="noStrike" cap="none" dirty="0" err="1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</a:t>
                      </a:r>
                      <a:r>
                        <a:rPr lang="pt-BR" sz="2400" b="0" i="1" u="none" strike="noStrike" cap="none" dirty="0" err="1">
                          <a:solidFill>
                            <a:srgbClr val="50FA7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not</a:t>
                      </a:r>
                      <a:r>
                        <a:rPr lang="pt-BR" sz="2400" b="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</a:t>
                      </a:r>
                      <a:r>
                        <a:rPr lang="pt-BR" sz="2400" b="0" i="1" u="none" strike="noStrike" cap="none" dirty="0">
                          <a:solidFill>
                            <a:srgbClr val="50FA7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.meu-item</a:t>
                      </a:r>
                      <a:r>
                        <a:rPr lang="pt-BR" sz="2400" b="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)</a:t>
                      </a: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{ </a:t>
                      </a:r>
                      <a:endParaRPr sz="2400" u="none" strike="noStrike" cap="none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    </a:t>
                      </a:r>
                      <a:r>
                        <a:rPr lang="pt-BR" sz="2400" b="0" u="none" strike="noStrike" cap="none" dirty="0">
                          <a:solidFill>
                            <a:srgbClr val="8BE9FD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color</a:t>
                      </a:r>
                      <a:r>
                        <a:rPr lang="pt-BR" sz="2400" b="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</a:t>
                      </a: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pt-BR" sz="2400" b="0" u="none" strike="noStrike" cap="none" dirty="0" err="1">
                          <a:solidFill>
                            <a:srgbClr val="BD93F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orange</a:t>
                      </a: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; </a:t>
                      </a:r>
                      <a:endParaRPr sz="2400" u="none" strike="noStrike" cap="none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}</a:t>
                      </a:r>
                      <a:endParaRPr sz="2400" u="none" strike="noStrike" cap="none" dirty="0"/>
                    </a:p>
                  </a:txBody>
                  <a:tcPr marL="63500" marR="63500" marT="63500" marB="63500">
                    <a:lnL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C34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032799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4"/>
          <p:cNvSpPr txBox="1">
            <a:spLocks noGrp="1"/>
          </p:cNvSpPr>
          <p:nvPr>
            <p:ph type="title"/>
          </p:nvPr>
        </p:nvSpPr>
        <p:spPr>
          <a:xfrm>
            <a:off x="838200" y="387985"/>
            <a:ext cx="10300970" cy="986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4400"/>
              <a:buFont typeface="Arial"/>
              <a:buNone/>
            </a:pPr>
            <a:r>
              <a:rPr lang="pt-BR"/>
              <a:t>Para Praticar!</a:t>
            </a:r>
            <a:endParaRPr/>
          </a:p>
        </p:txBody>
      </p:sp>
      <p:sp>
        <p:nvSpPr>
          <p:cNvPr id="157" name="Google Shape;157;p14"/>
          <p:cNvSpPr txBox="1"/>
          <p:nvPr/>
        </p:nvSpPr>
        <p:spPr>
          <a:xfrm>
            <a:off x="911860" y="1628775"/>
            <a:ext cx="9499600" cy="4549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pt-BR" sz="28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Descrição da atividade. </a:t>
            </a:r>
            <a:endParaRPr sz="28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pt-BR"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Instruções: Crie alguns elementos usando as tags HTML e insira nesses elementos as pseudo-classes que aprendemos:</a:t>
            </a:r>
            <a:endParaRPr sz="2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Noto Sans Symbols"/>
              <a:buChar char="✔"/>
            </a:pPr>
            <a:r>
              <a:rPr lang="pt-BR"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first-child</a:t>
            </a:r>
            <a:endParaRPr sz="2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Noto Sans Symbols"/>
              <a:buChar char="✔"/>
            </a:pPr>
            <a:r>
              <a:rPr lang="pt-BR"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last-child</a:t>
            </a:r>
            <a:endParaRPr sz="2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Noto Sans Symbols"/>
              <a:buChar char="✔"/>
            </a:pPr>
            <a:r>
              <a:rPr lang="pt-BR"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nth-child</a:t>
            </a:r>
            <a:endParaRPr sz="2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Noto Sans Symbols"/>
              <a:buChar char="✔"/>
            </a:pPr>
            <a:r>
              <a:rPr lang="pt-BR"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</a:t>
            </a:r>
            <a:endParaRPr sz="2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A1FC8F-C945-7EBC-404A-A0783421A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AC94932D-94C1-B90B-125A-603232B12C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27AA5CDB-6C4D-E5F5-094C-8C0488A6A8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96" b="37143"/>
          <a:stretch>
            <a:fillRect/>
          </a:stretch>
        </p:blipFill>
        <p:spPr>
          <a:xfrm rot="10800000">
            <a:off x="0" y="3338064"/>
            <a:ext cx="12410990" cy="4423381"/>
          </a:xfrm>
          <a:prstGeom prst="rect">
            <a:avLst/>
          </a:prstGeom>
        </p:spPr>
      </p:pic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C10C7C4B-6F44-4A78-9FD1-7153562429C3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353800" y="5594350"/>
            <a:ext cx="838200" cy="365125"/>
          </a:xfrm>
        </p:spPr>
        <p:txBody>
          <a:bodyPr/>
          <a:lstStyle/>
          <a:p>
            <a:pPr lvl="0"/>
            <a:fld id="{00000000-1234-1234-1234-123412341234}" type="slidenum">
              <a:rPr lang="pt-BR" smtClean="0"/>
              <a:pPr lvl="0"/>
              <a:t>14</a:t>
            </a:fld>
            <a:endParaRPr lang="pt-BR"/>
          </a:p>
        </p:txBody>
      </p:sp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5EA51B20-275B-B8C7-0904-FC9692B9D388}"/>
              </a:ext>
            </a:extLst>
          </p:cNvPr>
          <p:cNvCxnSpPr>
            <a:cxnSpLocks/>
          </p:cNvCxnSpPr>
          <p:nvPr/>
        </p:nvCxnSpPr>
        <p:spPr>
          <a:xfrm>
            <a:off x="856932" y="743587"/>
            <a:ext cx="0" cy="828040"/>
          </a:xfrm>
          <a:prstGeom prst="line">
            <a:avLst/>
          </a:prstGeom>
          <a:ln>
            <a:solidFill>
              <a:srgbClr val="ED145B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2" name="Google Shape;85;p6">
            <a:extLst>
              <a:ext uri="{FF2B5EF4-FFF2-40B4-BE49-F238E27FC236}">
                <a16:creationId xmlns:a16="http://schemas.microsoft.com/office/drawing/2014/main" id="{AA9325CC-1247-3A4A-C598-8E7AB01AAFAD}"/>
              </a:ext>
            </a:extLst>
          </p:cNvPr>
          <p:cNvSpPr txBox="1">
            <a:spLocks/>
          </p:cNvSpPr>
          <p:nvPr/>
        </p:nvSpPr>
        <p:spPr>
          <a:xfrm>
            <a:off x="945514" y="664529"/>
            <a:ext cx="10520767" cy="986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20000"/>
              </a:lnSpc>
              <a:buClr>
                <a:srgbClr val="595959"/>
              </a:buClr>
              <a:buSzPct val="222222"/>
            </a:pPr>
            <a:r>
              <a:rPr lang="pt-BR" sz="4300" dirty="0" err="1">
                <a:solidFill>
                  <a:schemeClr val="bg1"/>
                </a:solidFill>
              </a:rPr>
              <a:t>Pseudo-classes</a:t>
            </a:r>
            <a:r>
              <a:rPr lang="pt-BR" sz="4300" dirty="0">
                <a:solidFill>
                  <a:schemeClr val="bg1"/>
                </a:solidFill>
              </a:rPr>
              <a:t> de validação</a:t>
            </a:r>
            <a:br>
              <a:rPr lang="pt-BR" sz="4300" dirty="0">
                <a:solidFill>
                  <a:schemeClr val="tx2">
                    <a:lumMod val="90000"/>
                  </a:schemeClr>
                </a:solidFill>
              </a:rPr>
            </a:br>
            <a:r>
              <a:rPr lang="pt-BR" sz="2000" dirty="0">
                <a:solidFill>
                  <a:schemeClr val="tx2">
                    <a:lumMod val="90000"/>
                  </a:schemeClr>
                </a:solidFill>
              </a:rPr>
              <a:t>Servem para auxiliar no preenchimento de campos para melhorar a experiência do usuário.</a:t>
            </a:r>
          </a:p>
        </p:txBody>
      </p:sp>
      <p:sp>
        <p:nvSpPr>
          <p:cNvPr id="23" name="Google Shape;87;p6">
            <a:extLst>
              <a:ext uri="{FF2B5EF4-FFF2-40B4-BE49-F238E27FC236}">
                <a16:creationId xmlns:a16="http://schemas.microsoft.com/office/drawing/2014/main" id="{D3A7D474-4A4E-854D-9B55-E79695ED2DE9}"/>
              </a:ext>
            </a:extLst>
          </p:cNvPr>
          <p:cNvSpPr txBox="1"/>
          <p:nvPr/>
        </p:nvSpPr>
        <p:spPr>
          <a:xfrm>
            <a:off x="844613" y="2044406"/>
            <a:ext cx="6652200" cy="15978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rtl="0">
              <a:lnSpc>
                <a:spcPct val="150000"/>
              </a:lnSpc>
              <a:spcBef>
                <a:spcPts val="2000"/>
              </a:spcBef>
              <a:spcAft>
                <a:spcPts val="110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pt-BR" sz="4200" b="1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pt-BR" sz="4200" b="1" i="0" u="none" strike="noStrike" cap="none" dirty="0" err="1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required</a:t>
            </a:r>
            <a:endParaRPr sz="4200" b="1" i="0" u="none" strike="noStrike" cap="none" dirty="0">
              <a:solidFill>
                <a:schemeClr val="tx2">
                  <a:lumMod val="90000"/>
                </a:schemeClr>
              </a:solidFill>
              <a:highlight>
                <a:schemeClr val="accent6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481B7AD4-4F61-0CE0-8DE8-634EF19E9C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8328" b="37143"/>
          <a:stretch>
            <a:fillRect/>
          </a:stretch>
        </p:blipFill>
        <p:spPr>
          <a:xfrm>
            <a:off x="8229600" y="-773324"/>
            <a:ext cx="3962400" cy="4423381"/>
          </a:xfrm>
          <a:prstGeom prst="rect">
            <a:avLst/>
          </a:prstGeom>
        </p:spPr>
      </p:pic>
      <p:sp>
        <p:nvSpPr>
          <p:cNvPr id="7" name="Google Shape;193;p18">
            <a:extLst>
              <a:ext uri="{FF2B5EF4-FFF2-40B4-BE49-F238E27FC236}">
                <a16:creationId xmlns:a16="http://schemas.microsoft.com/office/drawing/2014/main" id="{B584133F-20D6-8EC5-CB3D-50BB4C9708CF}"/>
              </a:ext>
            </a:extLst>
          </p:cNvPr>
          <p:cNvSpPr txBox="1"/>
          <p:nvPr/>
        </p:nvSpPr>
        <p:spPr>
          <a:xfrm>
            <a:off x="772043" y="3352077"/>
            <a:ext cx="10107295" cy="1002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pt-BR" sz="2400" b="0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Usada para selecionar qualquer elemento de formulário cujo </a:t>
            </a:r>
            <a:r>
              <a:rPr lang="pt-BR" sz="2400" b="1" i="0" u="none" strike="noStrike" cap="none" dirty="0">
                <a:solidFill>
                  <a:srgbClr val="ED145B"/>
                </a:solidFill>
                <a:latin typeface="Arial"/>
                <a:ea typeface="Arial"/>
                <a:cs typeface="Arial"/>
                <a:sym typeface="Arial"/>
              </a:rPr>
              <a:t>preenchimento é obrigatório</a:t>
            </a:r>
            <a:r>
              <a:rPr lang="pt-BR" sz="2400" b="0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2400" b="0" i="0" u="none" strike="noStrike" cap="none" dirty="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1430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2400" b="0" i="0" u="none" strike="noStrike" cap="none" dirty="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0" i="0" u="none" strike="noStrike" cap="none" dirty="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0" i="0" u="none" strike="noStrike" cap="none" dirty="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2400" b="0" i="0" u="none" strike="noStrike" cap="none" dirty="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2400" b="0" i="0" u="none" strike="noStrike" cap="none" dirty="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2400" b="0" i="0" u="none" strike="noStrike" cap="none" dirty="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8" name="Google Shape;194;p18">
            <a:extLst>
              <a:ext uri="{FF2B5EF4-FFF2-40B4-BE49-F238E27FC236}">
                <a16:creationId xmlns:a16="http://schemas.microsoft.com/office/drawing/2014/main" id="{8A8D37BD-F20A-8697-3BA4-83BEDA66C0D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94303248"/>
              </p:ext>
            </p:extLst>
          </p:nvPr>
        </p:nvGraphicFramePr>
        <p:xfrm>
          <a:off x="4255350" y="4725297"/>
          <a:ext cx="3681300" cy="1224280"/>
        </p:xfrm>
        <a:graphic>
          <a:graphicData uri="http://schemas.openxmlformats.org/drawingml/2006/table">
            <a:tbl>
              <a:tblPr>
                <a:noFill/>
                <a:tableStyleId>{63B152E9-AFB2-458E-BFAF-78D379E83702}</a:tableStyleId>
              </a:tblPr>
              <a:tblGrid>
                <a:gridCol w="3681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585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400" b="0" u="none" strike="noStrike" cap="none" dirty="0" err="1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input</a:t>
                      </a:r>
                      <a:r>
                        <a:rPr lang="pt-BR" sz="2400" b="0" i="1" u="none" strike="noStrike" cap="none" dirty="0" err="1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</a:t>
                      </a:r>
                      <a:r>
                        <a:rPr lang="pt-BR" sz="2400" b="0" i="1" u="none" strike="noStrike" cap="none" dirty="0" err="1">
                          <a:solidFill>
                            <a:srgbClr val="50FA7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required</a:t>
                      </a: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{</a:t>
                      </a:r>
                      <a:endParaRPr sz="2400" u="none" strike="noStrike" cap="none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    </a:t>
                      </a:r>
                      <a:r>
                        <a:rPr lang="pt-BR" sz="2400" b="0" u="none" strike="noStrike" cap="none" dirty="0">
                          <a:solidFill>
                            <a:srgbClr val="8BE9FD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background</a:t>
                      </a:r>
                      <a:r>
                        <a:rPr lang="pt-BR" sz="2400" b="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</a:t>
                      </a: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pt-BR" sz="2400" b="0" u="none" strike="noStrike" cap="none" dirty="0" err="1">
                          <a:solidFill>
                            <a:srgbClr val="BD93F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red</a:t>
                      </a: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;</a:t>
                      </a:r>
                      <a:endParaRPr sz="2400" u="none" strike="noStrike" cap="none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}</a:t>
                      </a:r>
                      <a:endParaRPr sz="2400" b="0" u="none" strike="noStrike" cap="none" dirty="0">
                        <a:solidFill>
                          <a:srgbClr val="F8F8F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63500" marR="63500" marT="63500" marB="63500">
                    <a:lnL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C34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322466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662B3-A25A-8852-2E1C-2846C4238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214D14AA-524C-229C-10DF-BE47034FA0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06729445-045A-AB66-7AD6-6BBF6FDB2A7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96" b="37143"/>
          <a:stretch>
            <a:fillRect/>
          </a:stretch>
        </p:blipFill>
        <p:spPr>
          <a:xfrm rot="10800000">
            <a:off x="0" y="3338064"/>
            <a:ext cx="12410990" cy="4423381"/>
          </a:xfrm>
          <a:prstGeom prst="rect">
            <a:avLst/>
          </a:prstGeom>
        </p:spPr>
      </p:pic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099A557D-9827-3A76-F2F7-05A7B5770D27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353800" y="5594350"/>
            <a:ext cx="838200" cy="365125"/>
          </a:xfrm>
        </p:spPr>
        <p:txBody>
          <a:bodyPr/>
          <a:lstStyle/>
          <a:p>
            <a:pPr lvl="0"/>
            <a:fld id="{00000000-1234-1234-1234-123412341234}" type="slidenum">
              <a:rPr lang="pt-BR" smtClean="0"/>
              <a:pPr lvl="0"/>
              <a:t>15</a:t>
            </a:fld>
            <a:endParaRPr lang="pt-BR"/>
          </a:p>
        </p:txBody>
      </p:sp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69FE661F-963A-5E43-DC39-C5482541BB39}"/>
              </a:ext>
            </a:extLst>
          </p:cNvPr>
          <p:cNvCxnSpPr>
            <a:cxnSpLocks/>
          </p:cNvCxnSpPr>
          <p:nvPr/>
        </p:nvCxnSpPr>
        <p:spPr>
          <a:xfrm>
            <a:off x="856932" y="743587"/>
            <a:ext cx="0" cy="828040"/>
          </a:xfrm>
          <a:prstGeom prst="line">
            <a:avLst/>
          </a:prstGeom>
          <a:ln>
            <a:solidFill>
              <a:srgbClr val="ED145B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2" name="Google Shape;85;p6">
            <a:extLst>
              <a:ext uri="{FF2B5EF4-FFF2-40B4-BE49-F238E27FC236}">
                <a16:creationId xmlns:a16="http://schemas.microsoft.com/office/drawing/2014/main" id="{CA6575DD-4685-82F9-8411-D110C10BD20E}"/>
              </a:ext>
            </a:extLst>
          </p:cNvPr>
          <p:cNvSpPr txBox="1">
            <a:spLocks/>
          </p:cNvSpPr>
          <p:nvPr/>
        </p:nvSpPr>
        <p:spPr>
          <a:xfrm>
            <a:off x="945514" y="664529"/>
            <a:ext cx="10520767" cy="986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20000"/>
              </a:lnSpc>
              <a:buClr>
                <a:srgbClr val="595959"/>
              </a:buClr>
              <a:buSzPct val="222222"/>
            </a:pPr>
            <a:r>
              <a:rPr lang="pt-BR" sz="4300" dirty="0" err="1">
                <a:solidFill>
                  <a:schemeClr val="bg1"/>
                </a:solidFill>
              </a:rPr>
              <a:t>Pseudo-classes</a:t>
            </a:r>
            <a:r>
              <a:rPr lang="pt-BR" sz="4300" dirty="0">
                <a:solidFill>
                  <a:schemeClr val="bg1"/>
                </a:solidFill>
              </a:rPr>
              <a:t> de validação</a:t>
            </a:r>
            <a:br>
              <a:rPr lang="pt-BR" sz="4300" dirty="0">
                <a:solidFill>
                  <a:schemeClr val="tx2">
                    <a:lumMod val="90000"/>
                  </a:schemeClr>
                </a:solidFill>
              </a:rPr>
            </a:br>
            <a:r>
              <a:rPr lang="pt-BR" sz="2000" dirty="0">
                <a:solidFill>
                  <a:schemeClr val="tx2">
                    <a:lumMod val="90000"/>
                  </a:schemeClr>
                </a:solidFill>
              </a:rPr>
              <a:t>Servem para auxiliar no preenchimento de campos para melhorar a experiência do usuário.</a:t>
            </a:r>
          </a:p>
        </p:txBody>
      </p:sp>
      <p:sp>
        <p:nvSpPr>
          <p:cNvPr id="23" name="Google Shape;87;p6">
            <a:extLst>
              <a:ext uri="{FF2B5EF4-FFF2-40B4-BE49-F238E27FC236}">
                <a16:creationId xmlns:a16="http://schemas.microsoft.com/office/drawing/2014/main" id="{A556ECE8-909A-6845-73FF-D082ADA8F21E}"/>
              </a:ext>
            </a:extLst>
          </p:cNvPr>
          <p:cNvSpPr txBox="1"/>
          <p:nvPr/>
        </p:nvSpPr>
        <p:spPr>
          <a:xfrm>
            <a:off x="817562" y="1650684"/>
            <a:ext cx="6652200" cy="15978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rtl="0">
              <a:lnSpc>
                <a:spcPct val="150000"/>
              </a:lnSpc>
              <a:spcBef>
                <a:spcPts val="2000"/>
              </a:spcBef>
              <a:spcAft>
                <a:spcPts val="110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pt-BR" sz="4200" b="1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pt-BR" sz="4200" b="1" i="0" u="none" strike="noStrike" cap="none" dirty="0" err="1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checked</a:t>
            </a:r>
            <a:endParaRPr sz="4200" b="1" i="0" u="none" strike="noStrike" cap="none" dirty="0">
              <a:solidFill>
                <a:schemeClr val="tx2">
                  <a:lumMod val="90000"/>
                </a:schemeClr>
              </a:solidFill>
              <a:highlight>
                <a:schemeClr val="accent6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88;p6">
            <a:extLst>
              <a:ext uri="{FF2B5EF4-FFF2-40B4-BE49-F238E27FC236}">
                <a16:creationId xmlns:a16="http://schemas.microsoft.com/office/drawing/2014/main" id="{A67972DC-BB25-79AE-7668-A318E01CB7DE}"/>
              </a:ext>
            </a:extLst>
          </p:cNvPr>
          <p:cNvSpPr txBox="1"/>
          <p:nvPr/>
        </p:nvSpPr>
        <p:spPr>
          <a:xfrm>
            <a:off x="711200" y="2932845"/>
            <a:ext cx="10642600" cy="985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algn="just">
              <a:buClr>
                <a:schemeClr val="dk1"/>
              </a:buClr>
              <a:buSzPts val="1800"/>
            </a:pPr>
            <a:r>
              <a:rPr lang="pt-BR" sz="2200" dirty="0">
                <a:solidFill>
                  <a:schemeClr val="tx2">
                    <a:lumMod val="90000"/>
                  </a:schemeClr>
                </a:solidFill>
              </a:rPr>
              <a:t>Usada para selecionar um elemento &lt;radio&gt;, &lt;</a:t>
            </a:r>
            <a:r>
              <a:rPr lang="pt-BR" sz="2200" dirty="0" err="1">
                <a:solidFill>
                  <a:schemeClr val="tx2">
                    <a:lumMod val="90000"/>
                  </a:schemeClr>
                </a:solidFill>
              </a:rPr>
              <a:t>checkbox</a:t>
            </a:r>
            <a:r>
              <a:rPr lang="pt-BR" sz="2200" dirty="0">
                <a:solidFill>
                  <a:schemeClr val="tx2">
                    <a:lumMod val="90000"/>
                  </a:schemeClr>
                </a:solidFill>
              </a:rPr>
              <a:t>&gt; ou &lt;</a:t>
            </a:r>
            <a:r>
              <a:rPr lang="pt-BR" sz="2200" dirty="0" err="1">
                <a:solidFill>
                  <a:schemeClr val="tx2">
                    <a:lumMod val="90000"/>
                  </a:schemeClr>
                </a:solidFill>
              </a:rPr>
              <a:t>option</a:t>
            </a:r>
            <a:r>
              <a:rPr lang="pt-BR" sz="2200" dirty="0">
                <a:solidFill>
                  <a:schemeClr val="tx2">
                    <a:lumMod val="90000"/>
                  </a:schemeClr>
                </a:solidFill>
              </a:rPr>
              <a:t>&gt; que esteja </a:t>
            </a:r>
            <a:r>
              <a:rPr lang="pt-BR" sz="2200" b="1" dirty="0">
                <a:solidFill>
                  <a:srgbClr val="ED145B"/>
                </a:solidFill>
              </a:rPr>
              <a:t>marcado ou com estado ativado</a:t>
            </a:r>
            <a:r>
              <a:rPr lang="pt-BR" sz="2200" dirty="0">
                <a:solidFill>
                  <a:schemeClr val="tx2">
                    <a:lumMod val="90000"/>
                  </a:schemeClr>
                </a:solidFill>
              </a:rPr>
              <a:t>.</a:t>
            </a:r>
            <a:endParaRPr sz="2200" b="0" i="0" u="none" strike="noStrike" cap="none" dirty="0">
              <a:solidFill>
                <a:schemeClr val="tx2">
                  <a:lumMod val="9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2000" b="0" i="0" u="none" strike="noStrike" cap="none" dirty="0">
              <a:solidFill>
                <a:schemeClr val="tx2">
                  <a:lumMod val="9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A507CD4-FDEC-539B-57A9-5E93831D7EC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8328" b="37143"/>
          <a:stretch>
            <a:fillRect/>
          </a:stretch>
        </p:blipFill>
        <p:spPr>
          <a:xfrm>
            <a:off x="8229600" y="-773324"/>
            <a:ext cx="3962400" cy="4423381"/>
          </a:xfrm>
          <a:prstGeom prst="rect">
            <a:avLst/>
          </a:prstGeom>
        </p:spPr>
      </p:pic>
      <p:graphicFrame>
        <p:nvGraphicFramePr>
          <p:cNvPr id="7" name="Google Shape;166;p15">
            <a:extLst>
              <a:ext uri="{FF2B5EF4-FFF2-40B4-BE49-F238E27FC236}">
                <a16:creationId xmlns:a16="http://schemas.microsoft.com/office/drawing/2014/main" id="{18C3A40A-B383-453E-BBF1-D9A8DD90FF6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19862880"/>
              </p:ext>
            </p:extLst>
          </p:nvPr>
        </p:nvGraphicFramePr>
        <p:xfrm>
          <a:off x="945514" y="4049081"/>
          <a:ext cx="5078725" cy="2576711"/>
        </p:xfrm>
        <a:graphic>
          <a:graphicData uri="http://schemas.openxmlformats.org/drawingml/2006/table">
            <a:tbl>
              <a:tblPr>
                <a:noFill/>
                <a:tableStyleId>{63B152E9-AFB2-458E-BFAF-78D379E83702}</a:tableStyleId>
              </a:tblPr>
              <a:tblGrid>
                <a:gridCol w="5078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76711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3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pt-BR" sz="2000" i="1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</a:t>
                      </a:r>
                      <a:r>
                        <a:rPr lang="pt-BR" sz="2000" i="1" u="none" strike="noStrike" cap="none" dirty="0" err="1">
                          <a:solidFill>
                            <a:srgbClr val="50FA7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checked</a:t>
                      </a:r>
                      <a:r>
                        <a:rPr lang="pt-BR" sz="200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{</a:t>
                      </a:r>
                      <a:endParaRPr sz="2000" u="none" strike="noStrike" cap="none" dirty="0">
                        <a:solidFill>
                          <a:srgbClr val="F8F8F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marR="0" lvl="0" indent="0" algn="l" rtl="0">
                        <a:lnSpc>
                          <a:spcPct val="13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pt-BR" sz="200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   </a:t>
                      </a:r>
                      <a:r>
                        <a:rPr lang="pt-BR" sz="2000" u="none" strike="noStrike" cap="none" dirty="0" err="1">
                          <a:solidFill>
                            <a:srgbClr val="8BE9FD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margin-left</a:t>
                      </a:r>
                      <a:r>
                        <a:rPr lang="pt-BR" sz="200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</a:t>
                      </a:r>
                      <a:r>
                        <a:rPr lang="pt-BR" sz="200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pt-BR" sz="2000" u="none" strike="noStrike" cap="none" dirty="0">
                          <a:solidFill>
                            <a:srgbClr val="BD93F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25</a:t>
                      </a:r>
                      <a:r>
                        <a:rPr lang="pt-BR" sz="200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px</a:t>
                      </a:r>
                      <a:r>
                        <a:rPr lang="pt-BR" sz="200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;</a:t>
                      </a:r>
                      <a:endParaRPr sz="2000" u="none" strike="noStrike" cap="none" dirty="0">
                        <a:solidFill>
                          <a:srgbClr val="F8F8F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marR="0" lvl="0" indent="0" algn="l" rtl="0">
                        <a:lnSpc>
                          <a:spcPct val="13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pt-BR" sz="200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}</a:t>
                      </a:r>
                      <a:endParaRPr sz="2000" u="none" strike="noStrike" cap="none" dirty="0">
                        <a:solidFill>
                          <a:srgbClr val="F8F8F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marR="0" lvl="0" indent="0" algn="l" rtl="0">
                        <a:lnSpc>
                          <a:spcPct val="13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pt-BR" sz="200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input</a:t>
                      </a:r>
                      <a:r>
                        <a:rPr lang="pt-BR" sz="200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</a:t>
                      </a:r>
                      <a:r>
                        <a:rPr lang="pt-BR" sz="2000" i="1" u="none" strike="noStrike" cap="none" dirty="0" err="1">
                          <a:solidFill>
                            <a:srgbClr val="50FA7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type</a:t>
                      </a:r>
                      <a:r>
                        <a:rPr lang="pt-BR" sz="200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=</a:t>
                      </a:r>
                      <a:r>
                        <a:rPr lang="pt-BR" sz="2000" u="none" strike="noStrike" cap="none" dirty="0">
                          <a:solidFill>
                            <a:srgbClr val="E9F284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"</a:t>
                      </a:r>
                      <a:r>
                        <a:rPr lang="pt-BR" sz="2000" u="none" strike="noStrike" cap="none" dirty="0">
                          <a:solidFill>
                            <a:srgbClr val="F1FA8C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radio</a:t>
                      </a:r>
                      <a:r>
                        <a:rPr lang="pt-BR" sz="2000" u="none" strike="noStrike" cap="none" dirty="0">
                          <a:solidFill>
                            <a:srgbClr val="E9F284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"</a:t>
                      </a:r>
                      <a:r>
                        <a:rPr lang="pt-BR" sz="200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]</a:t>
                      </a:r>
                      <a:r>
                        <a:rPr lang="pt-BR" sz="2000" i="1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</a:t>
                      </a:r>
                      <a:r>
                        <a:rPr lang="pt-BR" sz="2000" i="1" u="none" strike="noStrike" cap="none" dirty="0" err="1">
                          <a:solidFill>
                            <a:srgbClr val="50FA7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checked</a:t>
                      </a:r>
                      <a:r>
                        <a:rPr lang="pt-BR" sz="200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{</a:t>
                      </a:r>
                      <a:endParaRPr sz="2000" u="none" strike="noStrike" cap="none" dirty="0">
                        <a:solidFill>
                          <a:srgbClr val="F8F8F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marR="0" lvl="0" indent="0" algn="l" rtl="0">
                        <a:lnSpc>
                          <a:spcPct val="13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pt-BR" sz="200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   </a:t>
                      </a:r>
                      <a:r>
                        <a:rPr lang="pt-BR" sz="2000" u="none" strike="noStrike" cap="none" dirty="0" err="1">
                          <a:solidFill>
                            <a:srgbClr val="8BE9FD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margin-left</a:t>
                      </a:r>
                      <a:r>
                        <a:rPr lang="pt-BR" sz="200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</a:t>
                      </a:r>
                      <a:r>
                        <a:rPr lang="pt-BR" sz="200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pt-BR" sz="2000" u="none" strike="noStrike" cap="none" dirty="0">
                          <a:solidFill>
                            <a:srgbClr val="BD93F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25</a:t>
                      </a:r>
                      <a:r>
                        <a:rPr lang="pt-BR" sz="200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px</a:t>
                      </a:r>
                      <a:r>
                        <a:rPr lang="pt-BR" sz="200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;</a:t>
                      </a:r>
                      <a:endParaRPr sz="2000" u="none" strike="noStrike" cap="none" dirty="0">
                        <a:solidFill>
                          <a:srgbClr val="F8F8F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marR="0" lvl="0" indent="0" algn="l" rtl="0">
                        <a:lnSpc>
                          <a:spcPct val="13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pt-BR" sz="200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}</a:t>
                      </a:r>
                      <a:endParaRPr sz="2000" u="none" strike="noStrike" cap="none" dirty="0">
                        <a:solidFill>
                          <a:srgbClr val="F8F8F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63500" marR="63500" marT="63500" marB="63500">
                    <a:lnL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C34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8" name="Google Shape;167;p15">
            <a:extLst>
              <a:ext uri="{FF2B5EF4-FFF2-40B4-BE49-F238E27FC236}">
                <a16:creationId xmlns:a16="http://schemas.microsoft.com/office/drawing/2014/main" id="{27B9ACA2-9598-A228-54A1-D92597D44D1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25498930"/>
              </p:ext>
            </p:extLst>
          </p:nvPr>
        </p:nvGraphicFramePr>
        <p:xfrm>
          <a:off x="6408086" y="4049081"/>
          <a:ext cx="4838075" cy="2575878"/>
        </p:xfrm>
        <a:graphic>
          <a:graphicData uri="http://schemas.openxmlformats.org/drawingml/2006/table">
            <a:tbl>
              <a:tblPr>
                <a:noFill/>
                <a:tableStyleId>{63B152E9-AFB2-458E-BFAF-78D379E83702}</a:tableStyleId>
              </a:tblPr>
              <a:tblGrid>
                <a:gridCol w="4838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6779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3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pt-BR" sz="200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input</a:t>
                      </a:r>
                      <a:r>
                        <a:rPr lang="pt-BR" sz="200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</a:t>
                      </a:r>
                      <a:r>
                        <a:rPr lang="pt-BR" sz="2000" i="1" u="none" strike="noStrike" cap="none" dirty="0" err="1">
                          <a:solidFill>
                            <a:srgbClr val="50FA7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type</a:t>
                      </a:r>
                      <a:r>
                        <a:rPr lang="pt-BR" sz="200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=</a:t>
                      </a:r>
                      <a:r>
                        <a:rPr lang="pt-BR" sz="2000" u="none" strike="noStrike" cap="none" dirty="0">
                          <a:solidFill>
                            <a:srgbClr val="E9F284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"</a:t>
                      </a:r>
                      <a:r>
                        <a:rPr lang="pt-BR" sz="2000" u="none" strike="noStrike" cap="none" dirty="0" err="1">
                          <a:solidFill>
                            <a:srgbClr val="F1FA8C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checkbox</a:t>
                      </a:r>
                      <a:r>
                        <a:rPr lang="pt-BR" sz="2000" u="none" strike="noStrike" cap="none" dirty="0">
                          <a:solidFill>
                            <a:srgbClr val="E9F284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"</a:t>
                      </a:r>
                      <a:r>
                        <a:rPr lang="pt-BR" sz="200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]</a:t>
                      </a:r>
                      <a:r>
                        <a:rPr lang="pt-BR" sz="2000" i="1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</a:t>
                      </a:r>
                      <a:r>
                        <a:rPr lang="pt-BR" sz="2000" i="1" u="none" strike="noStrike" cap="none" dirty="0" err="1">
                          <a:solidFill>
                            <a:srgbClr val="50FA7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checked</a:t>
                      </a:r>
                      <a:r>
                        <a:rPr lang="pt-BR" sz="200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{</a:t>
                      </a:r>
                      <a:endParaRPr sz="2000" u="none" strike="noStrike" cap="none" dirty="0">
                        <a:solidFill>
                          <a:srgbClr val="F8F8F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marR="0" lvl="0" indent="0" algn="l" rtl="0">
                        <a:lnSpc>
                          <a:spcPct val="13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pt-BR" sz="200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   </a:t>
                      </a:r>
                      <a:r>
                        <a:rPr lang="pt-BR" sz="2000" u="none" strike="noStrike" cap="none" dirty="0" err="1">
                          <a:solidFill>
                            <a:srgbClr val="8BE9FD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margin-left</a:t>
                      </a:r>
                      <a:r>
                        <a:rPr lang="pt-BR" sz="200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</a:t>
                      </a:r>
                      <a:r>
                        <a:rPr lang="pt-BR" sz="200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pt-BR" sz="2000" u="none" strike="noStrike" cap="none" dirty="0">
                          <a:solidFill>
                            <a:srgbClr val="BD93F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25</a:t>
                      </a:r>
                      <a:r>
                        <a:rPr lang="pt-BR" sz="200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px</a:t>
                      </a:r>
                      <a:r>
                        <a:rPr lang="pt-BR" sz="200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;</a:t>
                      </a:r>
                      <a:endParaRPr sz="2000" u="none" strike="noStrike" cap="none" dirty="0">
                        <a:solidFill>
                          <a:srgbClr val="F8F8F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marR="0" lvl="0" indent="0" algn="l" rtl="0">
                        <a:lnSpc>
                          <a:spcPct val="13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pt-BR" sz="200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}</a:t>
                      </a:r>
                      <a:endParaRPr sz="2000" u="none" strike="noStrike" cap="none" dirty="0">
                        <a:solidFill>
                          <a:srgbClr val="F8F8F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marR="0" lvl="0" indent="0" algn="l" rtl="0">
                        <a:lnSpc>
                          <a:spcPct val="13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pt-BR" sz="2000" u="none" strike="noStrike" cap="none" dirty="0" err="1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option</a:t>
                      </a:r>
                      <a:r>
                        <a:rPr lang="pt-BR" sz="2000" i="1" u="none" strike="noStrike" cap="none" dirty="0" err="1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</a:t>
                      </a:r>
                      <a:r>
                        <a:rPr lang="pt-BR" sz="2000" i="1" u="none" strike="noStrike" cap="none" dirty="0" err="1">
                          <a:solidFill>
                            <a:srgbClr val="50FA7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checked</a:t>
                      </a:r>
                      <a:r>
                        <a:rPr lang="pt-BR" sz="200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{</a:t>
                      </a:r>
                      <a:endParaRPr sz="2000" u="none" strike="noStrike" cap="none" dirty="0">
                        <a:solidFill>
                          <a:srgbClr val="F8F8F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marR="0" lvl="0" indent="0" algn="l" rtl="0">
                        <a:lnSpc>
                          <a:spcPct val="13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pt-BR" sz="200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   </a:t>
                      </a:r>
                      <a:r>
                        <a:rPr lang="pt-BR" sz="2000" u="none" strike="noStrike" cap="none" dirty="0">
                          <a:solidFill>
                            <a:srgbClr val="8BE9FD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color</a:t>
                      </a:r>
                      <a:r>
                        <a:rPr lang="pt-BR" sz="200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</a:t>
                      </a:r>
                      <a:r>
                        <a:rPr lang="pt-BR" sz="200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pt-BR" sz="2000" u="none" strike="noStrike" cap="none" dirty="0" err="1">
                          <a:solidFill>
                            <a:srgbClr val="BD93F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red</a:t>
                      </a:r>
                      <a:r>
                        <a:rPr lang="pt-BR" sz="200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;</a:t>
                      </a:r>
                      <a:endParaRPr sz="2000" u="none" strike="noStrike" cap="none" dirty="0">
                        <a:solidFill>
                          <a:srgbClr val="F8F8F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marR="0" lvl="0" indent="0" algn="l" rtl="0">
                        <a:lnSpc>
                          <a:spcPct val="13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pt-BR" sz="200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}</a:t>
                      </a:r>
                      <a:endParaRPr sz="2000" u="none" strike="noStrike" cap="none" dirty="0">
                        <a:solidFill>
                          <a:srgbClr val="F8F8F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63500" marR="63500" marT="63500" marB="63500">
                    <a:lnL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C34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75562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E2020-3F08-AEFD-89FB-BE9E5D9A0F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9A7CC49E-0C04-42D4-41CE-C117552A1C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7843628A-20EB-3B34-6440-594556733A9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96" b="37143"/>
          <a:stretch>
            <a:fillRect/>
          </a:stretch>
        </p:blipFill>
        <p:spPr>
          <a:xfrm rot="10800000">
            <a:off x="0" y="3338064"/>
            <a:ext cx="12410990" cy="4423381"/>
          </a:xfrm>
          <a:prstGeom prst="rect">
            <a:avLst/>
          </a:prstGeom>
        </p:spPr>
      </p:pic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40E134FF-D87E-ADD1-0546-637EEF85F8A8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353800" y="5594350"/>
            <a:ext cx="838200" cy="365125"/>
          </a:xfrm>
        </p:spPr>
        <p:txBody>
          <a:bodyPr/>
          <a:lstStyle/>
          <a:p>
            <a:pPr lvl="0"/>
            <a:fld id="{00000000-1234-1234-1234-123412341234}" type="slidenum">
              <a:rPr lang="pt-BR" smtClean="0"/>
              <a:pPr lvl="0"/>
              <a:t>16</a:t>
            </a:fld>
            <a:endParaRPr lang="pt-BR"/>
          </a:p>
        </p:txBody>
      </p:sp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0E9D0D02-ABDD-0585-CEF1-0D57CF39FB52}"/>
              </a:ext>
            </a:extLst>
          </p:cNvPr>
          <p:cNvCxnSpPr>
            <a:cxnSpLocks/>
          </p:cNvCxnSpPr>
          <p:nvPr/>
        </p:nvCxnSpPr>
        <p:spPr>
          <a:xfrm>
            <a:off x="856932" y="743587"/>
            <a:ext cx="0" cy="828040"/>
          </a:xfrm>
          <a:prstGeom prst="line">
            <a:avLst/>
          </a:prstGeom>
          <a:ln>
            <a:solidFill>
              <a:srgbClr val="ED145B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2" name="Google Shape;85;p6">
            <a:extLst>
              <a:ext uri="{FF2B5EF4-FFF2-40B4-BE49-F238E27FC236}">
                <a16:creationId xmlns:a16="http://schemas.microsoft.com/office/drawing/2014/main" id="{1A0D23B1-9204-B3D5-DDEA-3EA8B1F5B9C4}"/>
              </a:ext>
            </a:extLst>
          </p:cNvPr>
          <p:cNvSpPr txBox="1">
            <a:spLocks/>
          </p:cNvSpPr>
          <p:nvPr/>
        </p:nvSpPr>
        <p:spPr>
          <a:xfrm>
            <a:off x="945514" y="664529"/>
            <a:ext cx="10520767" cy="986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20000"/>
              </a:lnSpc>
              <a:buClr>
                <a:srgbClr val="595959"/>
              </a:buClr>
              <a:buSzPct val="222222"/>
            </a:pPr>
            <a:r>
              <a:rPr lang="pt-BR" sz="4300" dirty="0" err="1">
                <a:solidFill>
                  <a:schemeClr val="bg1"/>
                </a:solidFill>
              </a:rPr>
              <a:t>Pseudo-classes</a:t>
            </a:r>
            <a:r>
              <a:rPr lang="pt-BR" sz="4300" dirty="0">
                <a:solidFill>
                  <a:schemeClr val="bg1"/>
                </a:solidFill>
              </a:rPr>
              <a:t> de validação</a:t>
            </a:r>
            <a:br>
              <a:rPr lang="pt-BR" sz="4300" dirty="0">
                <a:solidFill>
                  <a:schemeClr val="tx2">
                    <a:lumMod val="90000"/>
                  </a:schemeClr>
                </a:solidFill>
              </a:rPr>
            </a:br>
            <a:r>
              <a:rPr lang="pt-BR" sz="2000" dirty="0">
                <a:solidFill>
                  <a:schemeClr val="tx2">
                    <a:lumMod val="90000"/>
                  </a:schemeClr>
                </a:solidFill>
              </a:rPr>
              <a:t>Servem para auxiliar no preenchimento de campos para melhorar a experiência do usuário.</a:t>
            </a:r>
          </a:p>
        </p:txBody>
      </p:sp>
      <p:sp>
        <p:nvSpPr>
          <p:cNvPr id="23" name="Google Shape;87;p6">
            <a:extLst>
              <a:ext uri="{FF2B5EF4-FFF2-40B4-BE49-F238E27FC236}">
                <a16:creationId xmlns:a16="http://schemas.microsoft.com/office/drawing/2014/main" id="{85D393B0-F8A4-F515-E093-F410E87DCCC6}"/>
              </a:ext>
            </a:extLst>
          </p:cNvPr>
          <p:cNvSpPr txBox="1"/>
          <p:nvPr/>
        </p:nvSpPr>
        <p:spPr>
          <a:xfrm>
            <a:off x="817562" y="1812123"/>
            <a:ext cx="6652200" cy="15978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rtl="0">
              <a:lnSpc>
                <a:spcPct val="150000"/>
              </a:lnSpc>
              <a:spcBef>
                <a:spcPts val="2000"/>
              </a:spcBef>
              <a:spcAft>
                <a:spcPts val="110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pt-BR" sz="4200" b="1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pt-BR" sz="4200" b="1" i="0" u="none" strike="noStrike" cap="none" dirty="0" err="1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disabled</a:t>
            </a:r>
            <a:endParaRPr sz="4200" b="1" i="0" u="none" strike="noStrike" cap="none" dirty="0">
              <a:solidFill>
                <a:schemeClr val="tx2">
                  <a:lumMod val="90000"/>
                </a:schemeClr>
              </a:solidFill>
              <a:highlight>
                <a:schemeClr val="accent6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E9370517-B813-281B-749A-A9AD6918ED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8328" b="37143"/>
          <a:stretch>
            <a:fillRect/>
          </a:stretch>
        </p:blipFill>
        <p:spPr>
          <a:xfrm>
            <a:off x="8229600" y="-773324"/>
            <a:ext cx="3962400" cy="4423381"/>
          </a:xfrm>
          <a:prstGeom prst="rect">
            <a:avLst/>
          </a:prstGeom>
        </p:spPr>
      </p:pic>
      <p:sp>
        <p:nvSpPr>
          <p:cNvPr id="6" name="Google Shape;175;p16">
            <a:extLst>
              <a:ext uri="{FF2B5EF4-FFF2-40B4-BE49-F238E27FC236}">
                <a16:creationId xmlns:a16="http://schemas.microsoft.com/office/drawing/2014/main" id="{D6D1A510-444A-9AED-C6C9-33B629E16E24}"/>
              </a:ext>
            </a:extLst>
          </p:cNvPr>
          <p:cNvSpPr txBox="1"/>
          <p:nvPr/>
        </p:nvSpPr>
        <p:spPr>
          <a:xfrm>
            <a:off x="756920" y="3122160"/>
            <a:ext cx="10596880" cy="1002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pt-BR" sz="2200" b="0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Usada para selecionar qualquer elemento </a:t>
            </a:r>
            <a:r>
              <a:rPr lang="pt-BR" sz="2200" b="1" i="0" u="none" strike="noStrike" cap="none" dirty="0">
                <a:solidFill>
                  <a:srgbClr val="ED145B"/>
                </a:solidFill>
                <a:latin typeface="Arial"/>
                <a:ea typeface="Arial"/>
                <a:cs typeface="Arial"/>
                <a:sym typeface="Arial"/>
              </a:rPr>
              <a:t>desativado</a:t>
            </a:r>
            <a:r>
              <a:rPr lang="pt-BR" sz="2200" b="0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. Um elemento é desativado se não puder ser ativado (selecionado, clicado, digitado etc.) ou aceitar o foco.</a:t>
            </a:r>
            <a:endParaRPr sz="2200" b="0" i="0" u="none" strike="noStrike" cap="none" dirty="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1430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2000" b="0" i="0" u="none" strike="noStrike" cap="none" dirty="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1430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2000" b="0" i="0" u="none" strike="noStrike" cap="none" dirty="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1430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2000" b="0" i="0" u="none" strike="noStrike" cap="none" dirty="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1430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2000" b="0" i="0" u="none" strike="noStrike" cap="none" dirty="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000" b="0" i="0" u="none" strike="noStrike" cap="none" dirty="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000" b="0" i="0" u="none" strike="noStrike" cap="none" dirty="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2000" b="0" i="0" u="none" strike="noStrike" cap="none" dirty="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2000" b="0" i="0" u="none" strike="noStrike" cap="none" dirty="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2000" b="0" i="0" u="none" strike="noStrike" cap="none" dirty="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9" name="Google Shape;176;p16">
            <a:extLst>
              <a:ext uri="{FF2B5EF4-FFF2-40B4-BE49-F238E27FC236}">
                <a16:creationId xmlns:a16="http://schemas.microsoft.com/office/drawing/2014/main" id="{ABF8E9AA-E898-9895-FA22-45BA4736280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15938747"/>
              </p:ext>
            </p:extLst>
          </p:nvPr>
        </p:nvGraphicFramePr>
        <p:xfrm>
          <a:off x="945514" y="4446486"/>
          <a:ext cx="4710326" cy="1573467"/>
        </p:xfrm>
        <a:graphic>
          <a:graphicData uri="http://schemas.openxmlformats.org/drawingml/2006/table">
            <a:tbl>
              <a:tblPr>
                <a:noFill/>
                <a:tableStyleId>{63B152E9-AFB2-458E-BFAF-78D379E83702}</a:tableStyleId>
              </a:tblPr>
              <a:tblGrid>
                <a:gridCol w="47103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55511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3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pt-BR" sz="2400" u="none" strike="noStrike" cap="none" dirty="0" err="1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input</a:t>
                      </a:r>
                      <a:r>
                        <a:rPr lang="pt-BR" sz="2400" i="1" u="none" strike="noStrike" cap="none" dirty="0" err="1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</a:t>
                      </a:r>
                      <a:r>
                        <a:rPr lang="pt-BR" sz="2400" i="1" u="none" strike="noStrike" cap="none" dirty="0" err="1">
                          <a:solidFill>
                            <a:srgbClr val="50FA7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disabled</a:t>
                      </a:r>
                      <a:r>
                        <a:rPr lang="pt-BR" sz="240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{</a:t>
                      </a:r>
                      <a:endParaRPr sz="2400" u="none" strike="noStrike" cap="none" dirty="0">
                        <a:solidFill>
                          <a:srgbClr val="F8F8F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marR="0" lvl="0" indent="0" algn="l" rtl="0">
                        <a:lnSpc>
                          <a:spcPct val="13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pt-BR" sz="240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   </a:t>
                      </a:r>
                      <a:r>
                        <a:rPr lang="pt-BR" sz="2400" u="none" strike="noStrike" cap="none" dirty="0">
                          <a:solidFill>
                            <a:srgbClr val="8BE9FD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background</a:t>
                      </a:r>
                      <a:r>
                        <a:rPr lang="pt-BR" sz="240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</a:t>
                      </a:r>
                      <a:r>
                        <a:rPr lang="pt-BR" sz="240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pt-BR" sz="2400" u="none" strike="noStrike" cap="none" dirty="0">
                          <a:solidFill>
                            <a:srgbClr val="BD93F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#ccc</a:t>
                      </a:r>
                      <a:r>
                        <a:rPr lang="pt-BR" sz="240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;</a:t>
                      </a:r>
                      <a:endParaRPr sz="2400" u="none" strike="noStrike" cap="none" dirty="0">
                        <a:solidFill>
                          <a:srgbClr val="F8F8F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marR="0" lvl="0" indent="0" algn="l" rtl="0">
                        <a:lnSpc>
                          <a:spcPct val="13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pt-BR" sz="240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}</a:t>
                      </a:r>
                      <a:endParaRPr sz="2400" u="none" strike="noStrike" cap="none" dirty="0">
                        <a:solidFill>
                          <a:srgbClr val="F8F8F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63500" marR="63500" marT="63500" marB="63500">
                    <a:lnL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C34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0" name="Google Shape;176;p16">
            <a:extLst>
              <a:ext uri="{FF2B5EF4-FFF2-40B4-BE49-F238E27FC236}">
                <a16:creationId xmlns:a16="http://schemas.microsoft.com/office/drawing/2014/main" id="{E7654B2D-C3F2-3FD6-F81B-67750115E8D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73484079"/>
              </p:ext>
            </p:extLst>
          </p:nvPr>
        </p:nvGraphicFramePr>
        <p:xfrm>
          <a:off x="6081486" y="4423381"/>
          <a:ext cx="5053324" cy="1596572"/>
        </p:xfrm>
        <a:graphic>
          <a:graphicData uri="http://schemas.openxmlformats.org/drawingml/2006/table">
            <a:tbl>
              <a:tblPr>
                <a:noFill/>
                <a:tableStyleId>{63B152E9-AFB2-458E-BFAF-78D379E83702}</a:tableStyleId>
              </a:tblPr>
              <a:tblGrid>
                <a:gridCol w="50533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596572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3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pt-BR" sz="240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input</a:t>
                      </a:r>
                      <a:r>
                        <a:rPr lang="pt-BR" sz="240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</a:t>
                      </a:r>
                      <a:r>
                        <a:rPr lang="pt-BR" sz="2400" i="1" u="none" strike="noStrike" cap="none" dirty="0" err="1">
                          <a:solidFill>
                            <a:srgbClr val="50FA7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type</a:t>
                      </a:r>
                      <a:r>
                        <a:rPr lang="pt-BR" sz="240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=</a:t>
                      </a:r>
                      <a:r>
                        <a:rPr lang="pt-BR" sz="2400" u="none" strike="noStrike" cap="none" dirty="0">
                          <a:solidFill>
                            <a:srgbClr val="E9F284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"</a:t>
                      </a:r>
                      <a:r>
                        <a:rPr lang="pt-BR" sz="2400" u="none" strike="noStrike" cap="none" dirty="0" err="1">
                          <a:solidFill>
                            <a:srgbClr val="F1FA8C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text</a:t>
                      </a:r>
                      <a:r>
                        <a:rPr lang="pt-BR" sz="2400" u="none" strike="noStrike" cap="none" dirty="0">
                          <a:solidFill>
                            <a:srgbClr val="E9F284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"</a:t>
                      </a:r>
                      <a:r>
                        <a:rPr lang="pt-BR" sz="240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]</a:t>
                      </a:r>
                      <a:r>
                        <a:rPr lang="pt-BR" sz="2400" i="1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</a:t>
                      </a:r>
                      <a:r>
                        <a:rPr lang="pt-BR" sz="2400" i="1" u="none" strike="noStrike" cap="none" dirty="0" err="1">
                          <a:solidFill>
                            <a:srgbClr val="50FA7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disabled</a:t>
                      </a:r>
                      <a:r>
                        <a:rPr lang="pt-BR" sz="240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{</a:t>
                      </a:r>
                      <a:endParaRPr sz="2400" u="none" strike="noStrike" cap="none" dirty="0">
                        <a:solidFill>
                          <a:srgbClr val="F8F8F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marR="0" lvl="0" indent="0" algn="l" rtl="0">
                        <a:lnSpc>
                          <a:spcPct val="13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pt-BR" sz="240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   </a:t>
                      </a:r>
                      <a:r>
                        <a:rPr lang="pt-BR" sz="2400" u="none" strike="noStrike" cap="none" dirty="0">
                          <a:solidFill>
                            <a:srgbClr val="8BE9FD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background</a:t>
                      </a:r>
                      <a:r>
                        <a:rPr lang="pt-BR" sz="240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</a:t>
                      </a:r>
                      <a:r>
                        <a:rPr lang="pt-BR" sz="240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pt-BR" sz="2400" u="none" strike="noStrike" cap="none" dirty="0">
                          <a:solidFill>
                            <a:srgbClr val="BD93F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#ccc</a:t>
                      </a:r>
                      <a:r>
                        <a:rPr lang="pt-BR" sz="240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;</a:t>
                      </a:r>
                      <a:endParaRPr sz="2400" u="none" strike="noStrike" cap="none" dirty="0">
                        <a:solidFill>
                          <a:srgbClr val="F8F8F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marR="0" lvl="0" indent="0" algn="l" rtl="0">
                        <a:lnSpc>
                          <a:spcPct val="13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pt-BR" sz="240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}</a:t>
                      </a:r>
                      <a:endParaRPr sz="2400" u="none" strike="noStrike" cap="none" dirty="0">
                        <a:solidFill>
                          <a:srgbClr val="F8F8F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63500" marR="63500" marT="63500" marB="63500">
                    <a:lnL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C34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294975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37437-F1E4-7252-0339-EE8F510DB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4774B988-3489-556D-9F5F-BAF1FFB89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D46CC1A8-21B9-EA08-1000-8C55E6F290D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96" b="37143"/>
          <a:stretch>
            <a:fillRect/>
          </a:stretch>
        </p:blipFill>
        <p:spPr>
          <a:xfrm rot="10800000">
            <a:off x="0" y="3338064"/>
            <a:ext cx="12410990" cy="4423381"/>
          </a:xfrm>
          <a:prstGeom prst="rect">
            <a:avLst/>
          </a:prstGeom>
        </p:spPr>
      </p:pic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27B73AAC-3813-A97F-72A2-257F79877D2C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353800" y="5594350"/>
            <a:ext cx="838200" cy="365125"/>
          </a:xfrm>
        </p:spPr>
        <p:txBody>
          <a:bodyPr/>
          <a:lstStyle/>
          <a:p>
            <a:pPr lvl="0"/>
            <a:fld id="{00000000-1234-1234-1234-123412341234}" type="slidenum">
              <a:rPr lang="pt-BR" smtClean="0"/>
              <a:pPr lvl="0"/>
              <a:t>17</a:t>
            </a:fld>
            <a:endParaRPr lang="pt-BR"/>
          </a:p>
        </p:txBody>
      </p:sp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852B782D-6CF0-F704-82D7-6CEFA5F6C31D}"/>
              </a:ext>
            </a:extLst>
          </p:cNvPr>
          <p:cNvCxnSpPr>
            <a:cxnSpLocks/>
          </p:cNvCxnSpPr>
          <p:nvPr/>
        </p:nvCxnSpPr>
        <p:spPr>
          <a:xfrm>
            <a:off x="856932" y="743587"/>
            <a:ext cx="0" cy="828040"/>
          </a:xfrm>
          <a:prstGeom prst="line">
            <a:avLst/>
          </a:prstGeom>
          <a:ln>
            <a:solidFill>
              <a:srgbClr val="ED145B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2" name="Google Shape;85;p6">
            <a:extLst>
              <a:ext uri="{FF2B5EF4-FFF2-40B4-BE49-F238E27FC236}">
                <a16:creationId xmlns:a16="http://schemas.microsoft.com/office/drawing/2014/main" id="{1DBC5511-8B49-AB43-7A2D-36577CBBA6F3}"/>
              </a:ext>
            </a:extLst>
          </p:cNvPr>
          <p:cNvSpPr txBox="1">
            <a:spLocks/>
          </p:cNvSpPr>
          <p:nvPr/>
        </p:nvSpPr>
        <p:spPr>
          <a:xfrm>
            <a:off x="945514" y="664529"/>
            <a:ext cx="10520767" cy="986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20000"/>
              </a:lnSpc>
              <a:buClr>
                <a:srgbClr val="595959"/>
              </a:buClr>
              <a:buSzPct val="222222"/>
            </a:pPr>
            <a:r>
              <a:rPr lang="pt-BR" sz="4300" dirty="0" err="1">
                <a:solidFill>
                  <a:schemeClr val="bg1"/>
                </a:solidFill>
              </a:rPr>
              <a:t>Pseudo-classes</a:t>
            </a:r>
            <a:r>
              <a:rPr lang="pt-BR" sz="4300" dirty="0">
                <a:solidFill>
                  <a:schemeClr val="bg1"/>
                </a:solidFill>
              </a:rPr>
              <a:t> de validação</a:t>
            </a:r>
            <a:br>
              <a:rPr lang="pt-BR" sz="4300" dirty="0">
                <a:solidFill>
                  <a:schemeClr val="tx2">
                    <a:lumMod val="90000"/>
                  </a:schemeClr>
                </a:solidFill>
              </a:rPr>
            </a:br>
            <a:r>
              <a:rPr lang="pt-BR" sz="2000" dirty="0">
                <a:solidFill>
                  <a:schemeClr val="tx2">
                    <a:lumMod val="90000"/>
                  </a:schemeClr>
                </a:solidFill>
              </a:rPr>
              <a:t>Servem para auxiliar no preenchimento de campos para melhorar a experiência do usuário.</a:t>
            </a:r>
          </a:p>
        </p:txBody>
      </p:sp>
      <p:sp>
        <p:nvSpPr>
          <p:cNvPr id="23" name="Google Shape;87;p6">
            <a:extLst>
              <a:ext uri="{FF2B5EF4-FFF2-40B4-BE49-F238E27FC236}">
                <a16:creationId xmlns:a16="http://schemas.microsoft.com/office/drawing/2014/main" id="{A9F4094A-0F25-9AAA-6905-B81214298F6F}"/>
              </a:ext>
            </a:extLst>
          </p:cNvPr>
          <p:cNvSpPr txBox="1"/>
          <p:nvPr/>
        </p:nvSpPr>
        <p:spPr>
          <a:xfrm>
            <a:off x="844613" y="1871741"/>
            <a:ext cx="6652200" cy="15978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rtl="0">
              <a:lnSpc>
                <a:spcPct val="150000"/>
              </a:lnSpc>
              <a:spcBef>
                <a:spcPts val="2000"/>
              </a:spcBef>
              <a:spcAft>
                <a:spcPts val="110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pt-BR" sz="4200" b="1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pt-BR" sz="4200" b="1" i="0" u="none" strike="noStrike" cap="none" dirty="0" err="1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valid</a:t>
            </a:r>
            <a:r>
              <a:rPr lang="pt-BR" sz="4200" b="1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 e :</a:t>
            </a:r>
            <a:r>
              <a:rPr lang="pt-BR" sz="4200" b="1" i="0" u="none" strike="noStrike" cap="none" dirty="0" err="1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invalid</a:t>
            </a:r>
            <a:endParaRPr sz="4200" b="1" i="0" u="none" strike="noStrike" cap="none" dirty="0">
              <a:solidFill>
                <a:schemeClr val="tx2">
                  <a:lumMod val="90000"/>
                </a:schemeClr>
              </a:solidFill>
              <a:highlight>
                <a:schemeClr val="accent6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F3B5049D-7FDC-E21F-C0B4-19B749DE260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8328" b="37143"/>
          <a:stretch>
            <a:fillRect/>
          </a:stretch>
        </p:blipFill>
        <p:spPr>
          <a:xfrm>
            <a:off x="8229600" y="-773324"/>
            <a:ext cx="3962400" cy="4423381"/>
          </a:xfrm>
          <a:prstGeom prst="rect">
            <a:avLst/>
          </a:prstGeom>
        </p:spPr>
      </p:pic>
      <p:sp>
        <p:nvSpPr>
          <p:cNvPr id="6" name="Google Shape;184;p17">
            <a:extLst>
              <a:ext uri="{FF2B5EF4-FFF2-40B4-BE49-F238E27FC236}">
                <a16:creationId xmlns:a16="http://schemas.microsoft.com/office/drawing/2014/main" id="{953D4B6B-6CD5-08BF-43E1-5CF9ACC818AF}"/>
              </a:ext>
            </a:extLst>
          </p:cNvPr>
          <p:cNvSpPr txBox="1"/>
          <p:nvPr/>
        </p:nvSpPr>
        <p:spPr>
          <a:xfrm>
            <a:off x="772043" y="3148724"/>
            <a:ext cx="10317248" cy="1002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pt-BR" sz="2400" b="0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Usada para selecionar campos de formulário cujos dados de entrada estejam de acordo, ou não, com o </a:t>
            </a:r>
            <a:r>
              <a:rPr lang="pt-BR" sz="2400" b="1" i="0" u="none" strike="noStrike" cap="none" dirty="0">
                <a:solidFill>
                  <a:srgbClr val="ED145B"/>
                </a:solidFill>
                <a:latin typeface="Arial"/>
                <a:ea typeface="Arial"/>
                <a:cs typeface="Arial"/>
                <a:sym typeface="Arial"/>
              </a:rPr>
              <a:t>formato requerido</a:t>
            </a:r>
            <a:r>
              <a:rPr lang="pt-BR" sz="2400" b="0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 para o campo.</a:t>
            </a:r>
            <a:endParaRPr sz="2400" b="0" i="0" u="none" strike="noStrike" cap="none" dirty="0">
              <a:solidFill>
                <a:schemeClr val="tx2">
                  <a:lumMod val="9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  <a:p>
            <a:pPr marL="11430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2000" b="0" i="0" u="none" strike="noStrike" cap="none" dirty="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1430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2000" b="0" i="0" u="none" strike="noStrike" cap="none" dirty="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1430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2000" b="0" i="0" u="none" strike="noStrike" cap="none" dirty="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1430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2000" b="0" i="0" u="none" strike="noStrike" cap="none" dirty="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000" b="0" i="0" u="none" strike="noStrike" cap="none" dirty="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000" b="0" i="0" u="none" strike="noStrike" cap="none" dirty="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2000" b="0" i="0" u="none" strike="noStrike" cap="none" dirty="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2000" b="0" i="0" u="none" strike="noStrike" cap="none" dirty="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2000" b="0" i="0" u="none" strike="noStrike" cap="none" dirty="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9" name="Google Shape;185;p17">
            <a:extLst>
              <a:ext uri="{FF2B5EF4-FFF2-40B4-BE49-F238E27FC236}">
                <a16:creationId xmlns:a16="http://schemas.microsoft.com/office/drawing/2014/main" id="{6C334A79-074F-A3BB-F9F9-D2970F71DB6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31645749"/>
              </p:ext>
            </p:extLst>
          </p:nvPr>
        </p:nvGraphicFramePr>
        <p:xfrm>
          <a:off x="1191017" y="4537792"/>
          <a:ext cx="4739650" cy="1224280"/>
        </p:xfrm>
        <a:graphic>
          <a:graphicData uri="http://schemas.openxmlformats.org/drawingml/2006/table">
            <a:tbl>
              <a:tblPr>
                <a:noFill/>
                <a:tableStyleId>{63B152E9-AFB2-458E-BFAF-78D379E83702}</a:tableStyleId>
              </a:tblPr>
              <a:tblGrid>
                <a:gridCol w="4739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03497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400" b="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input</a:t>
                      </a: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</a:t>
                      </a:r>
                      <a:r>
                        <a:rPr lang="pt-BR" sz="2400" b="0" i="1" u="none" strike="noStrike" cap="none" dirty="0" err="1">
                          <a:solidFill>
                            <a:srgbClr val="50FA7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type</a:t>
                      </a:r>
                      <a:r>
                        <a:rPr lang="pt-BR" sz="2400" b="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=</a:t>
                      </a:r>
                      <a:r>
                        <a:rPr lang="pt-BR" sz="2400" b="0" u="none" strike="noStrike" cap="none" dirty="0" err="1">
                          <a:solidFill>
                            <a:srgbClr val="F1FA8C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email</a:t>
                      </a: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]</a:t>
                      </a:r>
                      <a:r>
                        <a:rPr lang="pt-BR" sz="2400" b="0" i="1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</a:t>
                      </a:r>
                      <a:r>
                        <a:rPr lang="pt-BR" sz="2400" b="0" i="1" u="none" strike="noStrike" cap="none" dirty="0" err="1">
                          <a:solidFill>
                            <a:srgbClr val="50FA7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invalid</a:t>
                      </a: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{</a:t>
                      </a:r>
                      <a:endParaRPr sz="2400" u="none" strike="noStrike" cap="none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    </a:t>
                      </a:r>
                      <a:r>
                        <a:rPr lang="pt-BR" sz="2400" b="0" u="none" strike="noStrike" cap="none" dirty="0">
                          <a:solidFill>
                            <a:srgbClr val="8BE9FD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background</a:t>
                      </a:r>
                      <a:r>
                        <a:rPr lang="pt-BR" sz="2400" b="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</a:t>
                      </a: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pt-BR" sz="2400" b="0" u="none" strike="noStrike" cap="none" dirty="0" err="1">
                          <a:solidFill>
                            <a:srgbClr val="BD93F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orange</a:t>
                      </a: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;</a:t>
                      </a:r>
                      <a:endParaRPr sz="2400" u="none" strike="noStrike" cap="none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}</a:t>
                      </a:r>
                      <a:endParaRPr sz="2400" b="0" u="none" strike="noStrike" cap="none" dirty="0">
                        <a:solidFill>
                          <a:srgbClr val="F8F8F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63500" marR="63500" marT="63500" marB="63500">
                    <a:lnL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C34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0" name="Google Shape;185;p17">
            <a:extLst>
              <a:ext uri="{FF2B5EF4-FFF2-40B4-BE49-F238E27FC236}">
                <a16:creationId xmlns:a16="http://schemas.microsoft.com/office/drawing/2014/main" id="{87F4A10E-9697-A7F0-279F-CD501794783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17774418"/>
              </p:ext>
            </p:extLst>
          </p:nvPr>
        </p:nvGraphicFramePr>
        <p:xfrm>
          <a:off x="6395160" y="4537792"/>
          <a:ext cx="4739650" cy="1224280"/>
        </p:xfrm>
        <a:graphic>
          <a:graphicData uri="http://schemas.openxmlformats.org/drawingml/2006/table">
            <a:tbl>
              <a:tblPr>
                <a:noFill/>
                <a:tableStyleId>{63B152E9-AFB2-458E-BFAF-78D379E83702}</a:tableStyleId>
              </a:tblPr>
              <a:tblGrid>
                <a:gridCol w="4739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03497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400" b="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input</a:t>
                      </a: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</a:t>
                      </a:r>
                      <a:r>
                        <a:rPr lang="pt-BR" sz="2400" b="0" i="1" u="none" strike="noStrike" cap="none" dirty="0" err="1">
                          <a:solidFill>
                            <a:srgbClr val="50FA7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type</a:t>
                      </a:r>
                      <a:r>
                        <a:rPr lang="pt-BR" sz="2400" b="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=</a:t>
                      </a:r>
                      <a:r>
                        <a:rPr lang="pt-BR" sz="2400" b="0" u="none" strike="noStrike" cap="none" dirty="0" err="1">
                          <a:solidFill>
                            <a:srgbClr val="F1FA8C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email</a:t>
                      </a: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]</a:t>
                      </a:r>
                      <a:r>
                        <a:rPr lang="pt-BR" sz="2400" b="0" i="1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</a:t>
                      </a:r>
                      <a:r>
                        <a:rPr lang="pt-BR" sz="2400" b="0" i="1" u="none" strike="noStrike" cap="none" dirty="0" err="1">
                          <a:solidFill>
                            <a:srgbClr val="50FA7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valid</a:t>
                      </a: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{</a:t>
                      </a:r>
                      <a:endParaRPr sz="2400" u="none" strike="noStrike" cap="none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    </a:t>
                      </a:r>
                      <a:r>
                        <a:rPr lang="pt-BR" sz="2400" b="0" u="none" strike="noStrike" cap="none" dirty="0">
                          <a:solidFill>
                            <a:srgbClr val="8BE9FD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background</a:t>
                      </a:r>
                      <a:r>
                        <a:rPr lang="pt-BR" sz="2400" b="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</a:t>
                      </a: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pt-BR" sz="2400" b="0" u="none" strike="noStrike" cap="none" dirty="0" err="1">
                          <a:solidFill>
                            <a:srgbClr val="BD93F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green</a:t>
                      </a: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;</a:t>
                      </a:r>
                      <a:endParaRPr sz="2400" u="none" strike="noStrike" cap="none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}</a:t>
                      </a:r>
                      <a:endParaRPr sz="2400" b="0" u="none" strike="noStrike" cap="none" dirty="0">
                        <a:solidFill>
                          <a:srgbClr val="F8F8F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63500" marR="63500" marT="63500" marB="63500">
                    <a:lnL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C34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616078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9"/>
          <p:cNvSpPr txBox="1">
            <a:spLocks noGrp="1"/>
          </p:cNvSpPr>
          <p:nvPr>
            <p:ph type="title"/>
          </p:nvPr>
        </p:nvSpPr>
        <p:spPr>
          <a:xfrm>
            <a:off x="838200" y="387985"/>
            <a:ext cx="10300970" cy="986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4400"/>
              <a:buFont typeface="Arial"/>
              <a:buNone/>
            </a:pPr>
            <a:r>
              <a:rPr lang="pt-BR"/>
              <a:t>Para Praticar!</a:t>
            </a:r>
            <a:endParaRPr/>
          </a:p>
        </p:txBody>
      </p:sp>
      <p:sp>
        <p:nvSpPr>
          <p:cNvPr id="201" name="Google Shape;201;p19"/>
          <p:cNvSpPr txBox="1"/>
          <p:nvPr/>
        </p:nvSpPr>
        <p:spPr>
          <a:xfrm>
            <a:off x="911860" y="1557020"/>
            <a:ext cx="10365740" cy="4493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pt-BR" sz="28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Descrição da atividade. </a:t>
            </a:r>
            <a:endParaRPr sz="2800" b="1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28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Instruções: Crie alguns elementos usando as </a:t>
            </a:r>
            <a:r>
              <a:rPr lang="pt-BR" sz="28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tags</a:t>
            </a:r>
            <a:r>
              <a:rPr lang="pt-BR" sz="28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HTML e insira nesses elementos as </a:t>
            </a:r>
            <a:r>
              <a:rPr lang="pt-BR" sz="28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pseudo-classes</a:t>
            </a:r>
            <a:r>
              <a:rPr lang="pt-BR" sz="28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que aprendemos: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314325">
              <a:buSzPts val="1350"/>
              <a:buFont typeface="DM Sans"/>
              <a:buChar char="✓"/>
            </a:pPr>
            <a:r>
              <a:rPr lang="pt-BR" sz="2800" dirty="0" err="1"/>
              <a:t>required</a:t>
            </a:r>
            <a:endParaRPr lang="pt-BR" sz="2800" dirty="0"/>
          </a:p>
          <a:p>
            <a:pPr marL="457200" lvl="0" indent="-314325">
              <a:buSzPts val="1350"/>
              <a:buFont typeface="DM Sans"/>
              <a:buChar char="✓"/>
            </a:pPr>
            <a:r>
              <a:rPr lang="pt-BR" sz="28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checked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143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DM Sans"/>
              <a:buChar char="✓"/>
            </a:pPr>
            <a:r>
              <a:rPr lang="pt-BR" sz="28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disabled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143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DM Sans"/>
              <a:buChar char="✓"/>
            </a:pPr>
            <a:r>
              <a:rPr lang="pt-BR" sz="28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valid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143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DM Sans"/>
              <a:buChar char="✓"/>
            </a:pPr>
            <a:r>
              <a:rPr lang="pt-BR" sz="28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invalid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F0690-FA4A-3B4D-342E-D7EA7028A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A8B1DAFB-4E70-49ED-6564-6579D0B1D7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909"/>
          <a:stretch>
            <a:fillRect/>
          </a:stretch>
        </p:blipFill>
        <p:spPr>
          <a:xfrm>
            <a:off x="171448" y="-1065769"/>
            <a:ext cx="12192001" cy="7874556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76C5E86D-108D-75F1-26EB-B08A8E055D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0B95F204-5E6D-71B6-E225-CB8592FC74D7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353800" y="5594350"/>
            <a:ext cx="838200" cy="365125"/>
          </a:xfrm>
        </p:spPr>
        <p:txBody>
          <a:bodyPr/>
          <a:lstStyle/>
          <a:p>
            <a:pPr lvl="0"/>
            <a:fld id="{00000000-1234-1234-1234-123412341234}" type="slidenum">
              <a:rPr lang="pt-BR" smtClean="0"/>
              <a:pPr lvl="0"/>
              <a:t>19</a:t>
            </a:fld>
            <a:endParaRPr lang="pt-BR"/>
          </a:p>
        </p:txBody>
      </p:sp>
      <p:sp>
        <p:nvSpPr>
          <p:cNvPr id="15" name="Google Shape;77;p5">
            <a:extLst>
              <a:ext uri="{FF2B5EF4-FFF2-40B4-BE49-F238E27FC236}">
                <a16:creationId xmlns:a16="http://schemas.microsoft.com/office/drawing/2014/main" id="{CB3278F5-FF18-AAA9-C26B-06093CBBFD0D}"/>
              </a:ext>
            </a:extLst>
          </p:cNvPr>
          <p:cNvSpPr txBox="1">
            <a:spLocks/>
          </p:cNvSpPr>
          <p:nvPr/>
        </p:nvSpPr>
        <p:spPr>
          <a:xfrm>
            <a:off x="838200" y="686435"/>
            <a:ext cx="10300970" cy="986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90000"/>
              </a:lnSpc>
              <a:buClr>
                <a:srgbClr val="595959"/>
              </a:buClr>
              <a:buSzPts val="4400"/>
            </a:pPr>
            <a:r>
              <a:rPr lang="pt-BR" sz="4300" dirty="0">
                <a:solidFill>
                  <a:schemeClr val="bg1"/>
                </a:solidFill>
              </a:rPr>
              <a:t> O que é um </a:t>
            </a:r>
            <a:r>
              <a:rPr lang="pt-BR" sz="4300" dirty="0" err="1">
                <a:solidFill>
                  <a:schemeClr val="bg1"/>
                </a:solidFill>
              </a:rPr>
              <a:t>pseudo-elemento</a:t>
            </a:r>
            <a:r>
              <a:rPr lang="pt-BR" sz="4300" dirty="0">
                <a:solidFill>
                  <a:schemeClr val="bg1"/>
                </a:solidFill>
              </a:rPr>
              <a:t>? </a:t>
            </a:r>
          </a:p>
        </p:txBody>
      </p:sp>
      <p:sp>
        <p:nvSpPr>
          <p:cNvPr id="16" name="Google Shape;79;p5">
            <a:extLst>
              <a:ext uri="{FF2B5EF4-FFF2-40B4-BE49-F238E27FC236}">
                <a16:creationId xmlns:a16="http://schemas.microsoft.com/office/drawing/2014/main" id="{638B8E01-1C6B-6D64-82F3-EE8F094B5F70}"/>
              </a:ext>
            </a:extLst>
          </p:cNvPr>
          <p:cNvSpPr txBox="1"/>
          <p:nvPr/>
        </p:nvSpPr>
        <p:spPr>
          <a:xfrm>
            <a:off x="1063622" y="2037558"/>
            <a:ext cx="10290178" cy="26975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buClr>
                <a:schemeClr val="dk1"/>
              </a:buClr>
              <a:buSzPts val="1800"/>
            </a:pPr>
            <a:r>
              <a:rPr lang="pt-BR" sz="2400" dirty="0">
                <a:solidFill>
                  <a:schemeClr val="tx2">
                    <a:lumMod val="90000"/>
                  </a:schemeClr>
                </a:solidFill>
              </a:rPr>
              <a:t>Um </a:t>
            </a:r>
            <a:r>
              <a:rPr lang="pt-BR" sz="2400" dirty="0" err="1">
                <a:solidFill>
                  <a:schemeClr val="tx2">
                    <a:lumMod val="90000"/>
                  </a:schemeClr>
                </a:solidFill>
              </a:rPr>
              <a:t>pseudo-elemento</a:t>
            </a:r>
            <a:r>
              <a:rPr lang="pt-BR" sz="2400" dirty="0">
                <a:solidFill>
                  <a:schemeClr val="tx2">
                    <a:lumMod val="90000"/>
                  </a:schemeClr>
                </a:solidFill>
              </a:rPr>
              <a:t> CSS é uma palavra-chave adicionada a um seletor que permite que você </a:t>
            </a:r>
            <a:r>
              <a:rPr lang="pt-BR" sz="2400" b="1" dirty="0">
                <a:solidFill>
                  <a:srgbClr val="ED145B"/>
                </a:solidFill>
              </a:rPr>
              <a:t>selecione uma parte específica do elemento</a:t>
            </a:r>
            <a:r>
              <a:rPr lang="pt-BR" sz="2400" dirty="0">
                <a:solidFill>
                  <a:schemeClr val="tx2">
                    <a:lumMod val="90000"/>
                  </a:schemeClr>
                </a:solidFill>
              </a:rPr>
              <a:t> e é identificado por “::” (2 dois pontos).</a:t>
            </a:r>
            <a:endParaRPr lang="pt-BR" sz="2400" dirty="0">
              <a:solidFill>
                <a:schemeClr val="tx2">
                  <a:lumMod val="90000"/>
                </a:schemeClr>
              </a:solidFill>
              <a:highlight>
                <a:srgbClr val="EAFF6A"/>
              </a:highlight>
            </a:endParaRPr>
          </a:p>
          <a:p>
            <a:pPr lvl="0">
              <a:buClr>
                <a:schemeClr val="dk1"/>
              </a:buClr>
              <a:buSzPts val="1800"/>
            </a:pPr>
            <a:endParaRPr lang="pt-BR" sz="2400" dirty="0">
              <a:solidFill>
                <a:schemeClr val="tx2">
                  <a:lumMod val="90000"/>
                </a:schemeClr>
              </a:solidFill>
            </a:endParaRPr>
          </a:p>
          <a:p>
            <a:pPr lvl="0">
              <a:buClr>
                <a:schemeClr val="dk1"/>
              </a:buClr>
              <a:buSzPts val="1800"/>
            </a:pPr>
            <a:r>
              <a:rPr lang="pt-BR" sz="2400" dirty="0">
                <a:solidFill>
                  <a:schemeClr val="tx2">
                    <a:lumMod val="90000"/>
                  </a:schemeClr>
                </a:solidFill>
              </a:rPr>
              <a:t>Por exemplo, o </a:t>
            </a:r>
            <a:r>
              <a:rPr lang="pt-BR" sz="2400" dirty="0" err="1">
                <a:solidFill>
                  <a:schemeClr val="tx2">
                    <a:lumMod val="90000"/>
                  </a:schemeClr>
                </a:solidFill>
              </a:rPr>
              <a:t>pseudo-elemento</a:t>
            </a:r>
            <a:r>
              <a:rPr lang="pt-BR" sz="2400" dirty="0">
                <a:solidFill>
                  <a:schemeClr val="tx2">
                    <a:lumMod val="90000"/>
                  </a:schemeClr>
                </a:solidFill>
              </a:rPr>
              <a:t> </a:t>
            </a:r>
            <a:r>
              <a:rPr lang="pt-BR" sz="2400" b="1" dirty="0">
                <a:solidFill>
                  <a:schemeClr val="bg1"/>
                </a:solidFill>
              </a:rPr>
              <a:t>::</a:t>
            </a:r>
            <a:r>
              <a:rPr lang="pt-BR" sz="2400" b="1" dirty="0" err="1">
                <a:solidFill>
                  <a:schemeClr val="bg1"/>
                </a:solidFill>
              </a:rPr>
              <a:t>first-line</a:t>
            </a:r>
            <a:r>
              <a:rPr lang="pt-BR" sz="2400" dirty="0">
                <a:solidFill>
                  <a:schemeClr val="tx2">
                    <a:lumMod val="90000"/>
                  </a:schemeClr>
                </a:solidFill>
              </a:rPr>
              <a:t> aplica o estilo apenas na primeira linha de um parágrafo.</a:t>
            </a:r>
            <a:endParaRPr lang="pt-BR" sz="2400" dirty="0">
              <a:solidFill>
                <a:schemeClr val="tx2">
                  <a:lumMod val="90000"/>
                </a:schemeClr>
              </a:solidFill>
              <a:highlight>
                <a:srgbClr val="EAFF6A"/>
              </a:highlight>
            </a:endParaRPr>
          </a:p>
          <a:p>
            <a:pPr lvl="0">
              <a:buSzPts val="1800"/>
            </a:pPr>
            <a:endParaRPr lang="pt-BR" sz="2200" b="0" i="0" u="none" strike="noStrike" cap="none" dirty="0">
              <a:solidFill>
                <a:schemeClr val="tx2">
                  <a:lumMod val="9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A54E8D9F-EF57-F706-0E92-5D5F0401FAFD}"/>
              </a:ext>
            </a:extLst>
          </p:cNvPr>
          <p:cNvCxnSpPr>
            <a:cxnSpLocks/>
          </p:cNvCxnSpPr>
          <p:nvPr/>
        </p:nvCxnSpPr>
        <p:spPr>
          <a:xfrm>
            <a:off x="856932" y="743587"/>
            <a:ext cx="0" cy="828040"/>
          </a:xfrm>
          <a:prstGeom prst="line">
            <a:avLst/>
          </a:prstGeom>
          <a:ln>
            <a:solidFill>
              <a:srgbClr val="ED145B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2" name="Google Shape;209;p20">
            <a:extLst>
              <a:ext uri="{FF2B5EF4-FFF2-40B4-BE49-F238E27FC236}">
                <a16:creationId xmlns:a16="http://schemas.microsoft.com/office/drawing/2014/main" id="{9983D56C-1404-1562-06CC-C666B621AE9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7023003"/>
              </p:ext>
            </p:extLst>
          </p:nvPr>
        </p:nvGraphicFramePr>
        <p:xfrm>
          <a:off x="3661097" y="4707406"/>
          <a:ext cx="4655175" cy="1417325"/>
        </p:xfrm>
        <a:graphic>
          <a:graphicData uri="http://schemas.openxmlformats.org/drawingml/2006/table">
            <a:tbl>
              <a:tblPr>
                <a:noFill/>
                <a:tableStyleId>{63B152E9-AFB2-458E-BFAF-78D379E83702}</a:tableStyleId>
              </a:tblPr>
              <a:tblGrid>
                <a:gridCol w="4655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417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40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seletor</a:t>
                      </a:r>
                      <a:r>
                        <a:rPr lang="pt-BR" sz="2400" i="1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::</a:t>
                      </a:r>
                      <a:r>
                        <a:rPr lang="pt-BR" sz="2400" i="1" u="none" strike="noStrike" cap="none" dirty="0" err="1">
                          <a:solidFill>
                            <a:srgbClr val="50FA7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pseudoelemento</a:t>
                      </a:r>
                      <a:r>
                        <a:rPr lang="pt-BR" sz="240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{</a:t>
                      </a:r>
                      <a:endParaRPr sz="2400" u="none" strike="noStrike" cap="none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40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    </a:t>
                      </a:r>
                      <a:r>
                        <a:rPr lang="pt-BR" sz="2400" u="none" strike="noStrike" cap="none" dirty="0">
                          <a:solidFill>
                            <a:srgbClr val="8BE9FD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propriedade</a:t>
                      </a:r>
                      <a:r>
                        <a:rPr lang="pt-BR" sz="240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</a:t>
                      </a:r>
                      <a:r>
                        <a:rPr lang="pt-BR" sz="240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pt-BR" sz="2400" u="none" strike="noStrike" cap="none" dirty="0">
                          <a:solidFill>
                            <a:srgbClr val="BD93F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valor</a:t>
                      </a:r>
                      <a:r>
                        <a:rPr lang="pt-BR" sz="240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;</a:t>
                      </a:r>
                      <a:endParaRPr sz="2400" u="none" strike="noStrike" cap="none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40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}</a:t>
                      </a:r>
                      <a:endParaRPr sz="2400" i="1" u="none" strike="noStrike" cap="none" dirty="0">
                        <a:solidFill>
                          <a:srgbClr val="F8F8F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63500" marR="63500" marT="63500" marB="63500">
                    <a:lnL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C34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024616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05AAE-B682-AA04-11BA-6C142932D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>
            <a:extLst>
              <a:ext uri="{FF2B5EF4-FFF2-40B4-BE49-F238E27FC236}">
                <a16:creationId xmlns:a16="http://schemas.microsoft.com/office/drawing/2014/main" id="{0DF9083B-43D9-7FC8-3619-35468C1C2B2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04CF85B5-E21B-D610-FBA9-68A247EC7433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353800" y="5594350"/>
            <a:ext cx="838200" cy="365125"/>
          </a:xfrm>
        </p:spPr>
        <p:txBody>
          <a:bodyPr/>
          <a:lstStyle/>
          <a:p>
            <a:pPr lvl="0"/>
            <a:fld id="{00000000-1234-1234-1234-123412341234}" type="slidenum">
              <a:rPr lang="pt-BR" smtClean="0"/>
              <a:pPr lvl="0"/>
              <a:t>20</a:t>
            </a:fld>
            <a:endParaRPr lang="pt-BR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EF2F539C-CB64-160E-1B29-06192C72AA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15900" y="-71438"/>
            <a:ext cx="12522201" cy="7043738"/>
          </a:xfrm>
          <a:prstGeom prst="rect">
            <a:avLst/>
          </a:prstGeom>
        </p:spPr>
      </p:pic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01358B99-8DE9-F025-7CFD-8B7D3411F0C3}"/>
              </a:ext>
            </a:extLst>
          </p:cNvPr>
          <p:cNvCxnSpPr>
            <a:cxnSpLocks/>
          </p:cNvCxnSpPr>
          <p:nvPr/>
        </p:nvCxnSpPr>
        <p:spPr>
          <a:xfrm>
            <a:off x="856932" y="743587"/>
            <a:ext cx="0" cy="828040"/>
          </a:xfrm>
          <a:prstGeom prst="line">
            <a:avLst/>
          </a:prstGeom>
          <a:ln>
            <a:solidFill>
              <a:srgbClr val="ED145B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2" name="Google Shape;85;p6">
            <a:extLst>
              <a:ext uri="{FF2B5EF4-FFF2-40B4-BE49-F238E27FC236}">
                <a16:creationId xmlns:a16="http://schemas.microsoft.com/office/drawing/2014/main" id="{9AF72EB4-432F-DA03-EB04-6F2CEA88240F}"/>
              </a:ext>
            </a:extLst>
          </p:cNvPr>
          <p:cNvSpPr txBox="1">
            <a:spLocks/>
          </p:cNvSpPr>
          <p:nvPr/>
        </p:nvSpPr>
        <p:spPr>
          <a:xfrm>
            <a:off x="945515" y="664529"/>
            <a:ext cx="10300970" cy="986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20000"/>
              </a:lnSpc>
              <a:buClr>
                <a:srgbClr val="595959"/>
              </a:buClr>
              <a:buSzPct val="222222"/>
            </a:pPr>
            <a:r>
              <a:rPr lang="pt-BR" sz="4300" dirty="0" err="1">
                <a:solidFill>
                  <a:schemeClr val="bg1"/>
                </a:solidFill>
              </a:rPr>
              <a:t>Pseudo-elemento</a:t>
            </a:r>
            <a:br>
              <a:rPr lang="pt-BR" sz="4300" dirty="0">
                <a:solidFill>
                  <a:schemeClr val="tx2">
                    <a:lumMod val="90000"/>
                  </a:schemeClr>
                </a:solidFill>
              </a:rPr>
            </a:br>
            <a:r>
              <a:rPr lang="pt-BR" sz="2000" dirty="0">
                <a:solidFill>
                  <a:schemeClr val="tx2">
                    <a:lumMod val="90000"/>
                  </a:schemeClr>
                </a:solidFill>
              </a:rPr>
              <a:t>Servem para selecionar uma parte específica de um elemento.</a:t>
            </a:r>
          </a:p>
        </p:txBody>
      </p:sp>
      <p:sp>
        <p:nvSpPr>
          <p:cNvPr id="23" name="Google Shape;87;p6">
            <a:extLst>
              <a:ext uri="{FF2B5EF4-FFF2-40B4-BE49-F238E27FC236}">
                <a16:creationId xmlns:a16="http://schemas.microsoft.com/office/drawing/2014/main" id="{800FEB9B-5FD9-8777-4D33-89BA86304637}"/>
              </a:ext>
            </a:extLst>
          </p:cNvPr>
          <p:cNvSpPr txBox="1"/>
          <p:nvPr/>
        </p:nvSpPr>
        <p:spPr>
          <a:xfrm>
            <a:off x="856932" y="1831157"/>
            <a:ext cx="6652200" cy="15978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rtl="0">
              <a:lnSpc>
                <a:spcPct val="150000"/>
              </a:lnSpc>
              <a:spcBef>
                <a:spcPts val="2000"/>
              </a:spcBef>
              <a:spcAft>
                <a:spcPts val="110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pt-BR" sz="4400" b="1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::</a:t>
            </a:r>
            <a:r>
              <a:rPr lang="pt-BR" sz="4400" b="1" i="0" u="none" strike="noStrike" cap="none" dirty="0" err="1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placeholder</a:t>
            </a:r>
            <a:endParaRPr sz="4400" b="1" i="0" u="none" strike="noStrike" cap="none" dirty="0">
              <a:solidFill>
                <a:schemeClr val="tx2">
                  <a:lumMod val="90000"/>
                </a:schemeClr>
              </a:solidFill>
              <a:highlight>
                <a:schemeClr val="accent6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49;p13">
            <a:extLst>
              <a:ext uri="{FF2B5EF4-FFF2-40B4-BE49-F238E27FC236}">
                <a16:creationId xmlns:a16="http://schemas.microsoft.com/office/drawing/2014/main" id="{B609393C-C446-7478-4CBF-11D1271E414C}"/>
              </a:ext>
            </a:extLst>
          </p:cNvPr>
          <p:cNvSpPr txBox="1"/>
          <p:nvPr/>
        </p:nvSpPr>
        <p:spPr>
          <a:xfrm>
            <a:off x="783272" y="3161030"/>
            <a:ext cx="10625455" cy="1434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>
              <a:buClr>
                <a:schemeClr val="dk1"/>
              </a:buClr>
              <a:buSzPts val="1800"/>
            </a:pPr>
            <a:r>
              <a:rPr lang="pt-BR" sz="2400" dirty="0">
                <a:solidFill>
                  <a:schemeClr val="tx2">
                    <a:lumMod val="90000"/>
                  </a:schemeClr>
                </a:solidFill>
              </a:rPr>
              <a:t>Usada para formatar o </a:t>
            </a:r>
            <a:r>
              <a:rPr lang="pt-BR" sz="2400" b="1" dirty="0" err="1">
                <a:solidFill>
                  <a:srgbClr val="ED145B"/>
                </a:solidFill>
              </a:rPr>
              <a:t>placeholder</a:t>
            </a:r>
            <a:r>
              <a:rPr lang="pt-BR" sz="2400" dirty="0">
                <a:solidFill>
                  <a:schemeClr val="tx2">
                    <a:lumMod val="90000"/>
                  </a:schemeClr>
                </a:solidFill>
              </a:rPr>
              <a:t> de um elemento.</a:t>
            </a:r>
          </a:p>
          <a:p>
            <a:pPr marL="114300" algn="just">
              <a:buClr>
                <a:schemeClr val="dk1"/>
              </a:buClr>
              <a:buSzPts val="1800"/>
            </a:pPr>
            <a:r>
              <a:rPr lang="pt-BR" sz="2400" dirty="0">
                <a:solidFill>
                  <a:schemeClr val="tx2">
                    <a:lumMod val="90000"/>
                  </a:schemeClr>
                </a:solidFill>
              </a:rPr>
              <a:t>Ou seja, o texto que aparece dentro do campo no formulário e descreve ao usuário o valor esperado. (</a:t>
            </a:r>
            <a:r>
              <a:rPr lang="pt-BR" sz="2400" dirty="0" err="1">
                <a:solidFill>
                  <a:schemeClr val="tx2">
                    <a:lumMod val="90000"/>
                  </a:schemeClr>
                </a:solidFill>
              </a:rPr>
              <a:t>Ex</a:t>
            </a:r>
            <a:r>
              <a:rPr lang="pt-BR" sz="2400" dirty="0">
                <a:solidFill>
                  <a:schemeClr val="tx2">
                    <a:lumMod val="90000"/>
                  </a:schemeClr>
                </a:solidFill>
              </a:rPr>
              <a:t>: “</a:t>
            </a:r>
            <a:r>
              <a:rPr lang="pt-BR" sz="2400" i="1" dirty="0">
                <a:solidFill>
                  <a:schemeClr val="tx2">
                    <a:lumMod val="90000"/>
                  </a:schemeClr>
                </a:solidFill>
              </a:rPr>
              <a:t>Digite seu nome</a:t>
            </a:r>
            <a:r>
              <a:rPr lang="pt-BR" sz="2400" dirty="0">
                <a:solidFill>
                  <a:schemeClr val="tx2">
                    <a:lumMod val="90000"/>
                  </a:schemeClr>
                </a:solidFill>
              </a:rPr>
              <a:t>”)</a:t>
            </a:r>
          </a:p>
        </p:txBody>
      </p:sp>
      <p:graphicFrame>
        <p:nvGraphicFramePr>
          <p:cNvPr id="5" name="Google Shape;218;p21">
            <a:extLst>
              <a:ext uri="{FF2B5EF4-FFF2-40B4-BE49-F238E27FC236}">
                <a16:creationId xmlns:a16="http://schemas.microsoft.com/office/drawing/2014/main" id="{96A47351-2915-5786-0020-993A3024F6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95980566"/>
              </p:ext>
            </p:extLst>
          </p:nvPr>
        </p:nvGraphicFramePr>
        <p:xfrm>
          <a:off x="4255349" y="4811714"/>
          <a:ext cx="3681300" cy="1224280"/>
        </p:xfrm>
        <a:graphic>
          <a:graphicData uri="http://schemas.openxmlformats.org/drawingml/2006/table">
            <a:tbl>
              <a:tblPr>
                <a:noFill/>
                <a:tableStyleId>{63B152E9-AFB2-458E-BFAF-78D379E83702}</a:tableStyleId>
              </a:tblPr>
              <a:tblGrid>
                <a:gridCol w="3681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51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400" b="0" i="1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::</a:t>
                      </a:r>
                      <a:r>
                        <a:rPr lang="pt-BR" sz="2400" b="0" i="1" u="none" strike="noStrike" cap="none" dirty="0" err="1">
                          <a:solidFill>
                            <a:srgbClr val="50FA7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placeholder</a:t>
                      </a: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{</a:t>
                      </a:r>
                      <a:endParaRPr sz="2400" u="none" strike="noStrike" cap="none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    </a:t>
                      </a:r>
                      <a:r>
                        <a:rPr lang="pt-BR" sz="2400" b="0" u="none" strike="noStrike" cap="none" dirty="0">
                          <a:solidFill>
                            <a:srgbClr val="8BE9FD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color</a:t>
                      </a:r>
                      <a:r>
                        <a:rPr lang="pt-BR" sz="2400" b="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</a:t>
                      </a: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pt-BR" sz="2400" b="0" u="none" strike="noStrike" cap="none" dirty="0" err="1">
                          <a:solidFill>
                            <a:srgbClr val="BD93F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yellow</a:t>
                      </a:r>
                      <a:endParaRPr sz="2400" b="0" u="none" strike="noStrike" cap="none" dirty="0">
                        <a:solidFill>
                          <a:srgbClr val="F8F8F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}</a:t>
                      </a:r>
                      <a:endParaRPr sz="2400" b="0" u="none" strike="noStrike" cap="none" dirty="0">
                        <a:solidFill>
                          <a:srgbClr val="F8F8F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63500" marR="63500" marT="63500" marB="63500">
                    <a:lnL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C34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810811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B55FB-CF7F-261C-8F6F-AC64C7574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>
            <a:extLst>
              <a:ext uri="{FF2B5EF4-FFF2-40B4-BE49-F238E27FC236}">
                <a16:creationId xmlns:a16="http://schemas.microsoft.com/office/drawing/2014/main" id="{DDE713B7-A93D-4E8E-9C92-CB37C4DDA96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58733BB9-3C59-B9BD-913A-4D42D5D7B2D7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353800" y="5594350"/>
            <a:ext cx="838200" cy="365125"/>
          </a:xfrm>
        </p:spPr>
        <p:txBody>
          <a:bodyPr/>
          <a:lstStyle/>
          <a:p>
            <a:pPr lvl="0"/>
            <a:fld id="{00000000-1234-1234-1234-123412341234}" type="slidenum">
              <a:rPr lang="pt-BR" smtClean="0"/>
              <a:pPr lvl="0"/>
              <a:t>21</a:t>
            </a:fld>
            <a:endParaRPr lang="pt-BR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00DF8A01-0860-23D2-DEF1-5CF341BFF5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15900" y="-71438"/>
            <a:ext cx="12522201" cy="7043738"/>
          </a:xfrm>
          <a:prstGeom prst="rect">
            <a:avLst/>
          </a:prstGeom>
        </p:spPr>
      </p:pic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ADEC6381-2EEA-A45B-77E2-7BE0D45DEC1C}"/>
              </a:ext>
            </a:extLst>
          </p:cNvPr>
          <p:cNvCxnSpPr>
            <a:cxnSpLocks/>
          </p:cNvCxnSpPr>
          <p:nvPr/>
        </p:nvCxnSpPr>
        <p:spPr>
          <a:xfrm>
            <a:off x="856932" y="743587"/>
            <a:ext cx="0" cy="828040"/>
          </a:xfrm>
          <a:prstGeom prst="line">
            <a:avLst/>
          </a:prstGeom>
          <a:ln>
            <a:solidFill>
              <a:srgbClr val="ED145B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2" name="Google Shape;85;p6">
            <a:extLst>
              <a:ext uri="{FF2B5EF4-FFF2-40B4-BE49-F238E27FC236}">
                <a16:creationId xmlns:a16="http://schemas.microsoft.com/office/drawing/2014/main" id="{92C6C37A-4602-F79E-44D0-02C07B35B4CB}"/>
              </a:ext>
            </a:extLst>
          </p:cNvPr>
          <p:cNvSpPr txBox="1">
            <a:spLocks/>
          </p:cNvSpPr>
          <p:nvPr/>
        </p:nvSpPr>
        <p:spPr>
          <a:xfrm>
            <a:off x="945515" y="664529"/>
            <a:ext cx="10300970" cy="986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20000"/>
              </a:lnSpc>
              <a:buClr>
                <a:srgbClr val="595959"/>
              </a:buClr>
              <a:buSzPct val="222222"/>
            </a:pPr>
            <a:r>
              <a:rPr lang="pt-BR" sz="4300" dirty="0" err="1">
                <a:solidFill>
                  <a:schemeClr val="bg1"/>
                </a:solidFill>
              </a:rPr>
              <a:t>Pseudo-elemento</a:t>
            </a:r>
            <a:br>
              <a:rPr lang="pt-BR" sz="4300" dirty="0">
                <a:solidFill>
                  <a:schemeClr val="tx2">
                    <a:lumMod val="90000"/>
                  </a:schemeClr>
                </a:solidFill>
              </a:rPr>
            </a:br>
            <a:r>
              <a:rPr lang="pt-BR" sz="2000" dirty="0">
                <a:solidFill>
                  <a:schemeClr val="tx2">
                    <a:lumMod val="90000"/>
                  </a:schemeClr>
                </a:solidFill>
              </a:rPr>
              <a:t>Servem para selecionar uma parte específica de um elemento.</a:t>
            </a:r>
          </a:p>
        </p:txBody>
      </p:sp>
      <p:sp>
        <p:nvSpPr>
          <p:cNvPr id="23" name="Google Shape;87;p6">
            <a:extLst>
              <a:ext uri="{FF2B5EF4-FFF2-40B4-BE49-F238E27FC236}">
                <a16:creationId xmlns:a16="http://schemas.microsoft.com/office/drawing/2014/main" id="{F963F7C5-612D-1778-4203-718B42A24BB6}"/>
              </a:ext>
            </a:extLst>
          </p:cNvPr>
          <p:cNvSpPr txBox="1"/>
          <p:nvPr/>
        </p:nvSpPr>
        <p:spPr>
          <a:xfrm>
            <a:off x="856932" y="1831157"/>
            <a:ext cx="6652200" cy="15978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rtl="0">
              <a:lnSpc>
                <a:spcPct val="150000"/>
              </a:lnSpc>
              <a:spcBef>
                <a:spcPts val="2000"/>
              </a:spcBef>
              <a:spcAft>
                <a:spcPts val="110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pt-BR" sz="4400" b="1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::</a:t>
            </a:r>
            <a:r>
              <a:rPr lang="pt-BR" sz="4400" b="1" i="0" u="none" strike="noStrike" cap="none" dirty="0" err="1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first-letter</a:t>
            </a:r>
            <a:endParaRPr sz="4400" b="1" i="0" u="none" strike="noStrike" cap="none" dirty="0">
              <a:solidFill>
                <a:schemeClr val="tx2">
                  <a:lumMod val="90000"/>
                </a:schemeClr>
              </a:solidFill>
              <a:highlight>
                <a:schemeClr val="accent6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49;p13">
            <a:extLst>
              <a:ext uri="{FF2B5EF4-FFF2-40B4-BE49-F238E27FC236}">
                <a16:creationId xmlns:a16="http://schemas.microsoft.com/office/drawing/2014/main" id="{A51297D0-1AA8-332A-9759-733B8528C423}"/>
              </a:ext>
            </a:extLst>
          </p:cNvPr>
          <p:cNvSpPr txBox="1"/>
          <p:nvPr/>
        </p:nvSpPr>
        <p:spPr>
          <a:xfrm>
            <a:off x="783272" y="3161030"/>
            <a:ext cx="10625455" cy="752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>
              <a:buClr>
                <a:schemeClr val="dk1"/>
              </a:buClr>
              <a:buSzPts val="1800"/>
            </a:pPr>
            <a:r>
              <a:rPr lang="pt-BR" sz="2400" dirty="0">
                <a:solidFill>
                  <a:schemeClr val="tx2">
                    <a:lumMod val="90000"/>
                  </a:schemeClr>
                </a:solidFill>
              </a:rPr>
              <a:t>Usada para formatar a </a:t>
            </a:r>
            <a:r>
              <a:rPr lang="pt-BR" sz="2400" b="1" dirty="0">
                <a:solidFill>
                  <a:srgbClr val="ED145B"/>
                </a:solidFill>
              </a:rPr>
              <a:t>primeira letra</a:t>
            </a:r>
            <a:r>
              <a:rPr lang="pt-BR" sz="2400" dirty="0">
                <a:solidFill>
                  <a:schemeClr val="tx2">
                    <a:lumMod val="90000"/>
                  </a:schemeClr>
                </a:solidFill>
              </a:rPr>
              <a:t> da primeira linha de um elemento.</a:t>
            </a:r>
          </a:p>
        </p:txBody>
      </p:sp>
      <p:graphicFrame>
        <p:nvGraphicFramePr>
          <p:cNvPr id="4" name="Google Shape;228;p22">
            <a:extLst>
              <a:ext uri="{FF2B5EF4-FFF2-40B4-BE49-F238E27FC236}">
                <a16:creationId xmlns:a16="http://schemas.microsoft.com/office/drawing/2014/main" id="{FE944FF8-BFC5-3FF2-0889-3568B9497B8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3275631"/>
              </p:ext>
            </p:extLst>
          </p:nvPr>
        </p:nvGraphicFramePr>
        <p:xfrm>
          <a:off x="3367725" y="4257675"/>
          <a:ext cx="5354950" cy="1701800"/>
        </p:xfrm>
        <a:graphic>
          <a:graphicData uri="http://schemas.openxmlformats.org/drawingml/2006/table">
            <a:tbl>
              <a:tblPr>
                <a:noFill/>
                <a:tableStyleId>{63B152E9-AFB2-458E-BFAF-78D379E83702}</a:tableStyleId>
              </a:tblPr>
              <a:tblGrid>
                <a:gridCol w="5354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01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400" b="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</a:t>
                      </a:r>
                      <a:r>
                        <a:rPr lang="pt-BR" sz="2400" b="0" i="1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::</a:t>
                      </a:r>
                      <a:r>
                        <a:rPr lang="pt-BR" sz="2400" b="0" i="1" u="none" strike="noStrike" cap="none" dirty="0">
                          <a:solidFill>
                            <a:srgbClr val="50FA7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first-letter</a:t>
                      </a: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{</a:t>
                      </a:r>
                      <a:endParaRPr sz="2400" u="none" strike="noStrike" cap="none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    </a:t>
                      </a:r>
                      <a:r>
                        <a:rPr lang="pt-BR" sz="2400" b="0" u="none" strike="noStrike" cap="none" dirty="0">
                          <a:solidFill>
                            <a:srgbClr val="8BE9FD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color</a:t>
                      </a:r>
                      <a:r>
                        <a:rPr lang="pt-BR" sz="2400" b="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</a:t>
                      </a: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pt-BR" sz="2400" b="0" u="none" strike="noStrike" cap="none" dirty="0" err="1">
                          <a:solidFill>
                            <a:srgbClr val="BD93F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red</a:t>
                      </a: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;</a:t>
                      </a:r>
                      <a:endParaRPr sz="2400" u="none" strike="noStrike" cap="none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    </a:t>
                      </a:r>
                      <a:r>
                        <a:rPr lang="pt-BR" sz="2400" b="0" u="none" strike="noStrike" cap="none" dirty="0" err="1">
                          <a:solidFill>
                            <a:srgbClr val="8BE9FD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text-transform</a:t>
                      </a:r>
                      <a:r>
                        <a:rPr lang="pt-BR" sz="2400" b="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</a:t>
                      </a: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pt-BR" sz="2400" b="0" u="none" strike="noStrike" cap="none" dirty="0" err="1">
                          <a:solidFill>
                            <a:srgbClr val="BD93F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uppercase</a:t>
                      </a: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;</a:t>
                      </a:r>
                      <a:endParaRPr sz="2400" u="none" strike="noStrike" cap="none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}</a:t>
                      </a:r>
                      <a:endParaRPr sz="2400" u="none" strike="noStrike" cap="none" dirty="0"/>
                    </a:p>
                  </a:txBody>
                  <a:tcPr marL="63500" marR="63500" marT="63500" marB="63500">
                    <a:lnL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C34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702003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7870B6-8C17-EDC8-1134-40AA5A56F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>
            <a:extLst>
              <a:ext uri="{FF2B5EF4-FFF2-40B4-BE49-F238E27FC236}">
                <a16:creationId xmlns:a16="http://schemas.microsoft.com/office/drawing/2014/main" id="{4E0EC769-364B-2D5C-BD79-5A2DD7CAD1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D3CFF7B8-25CD-2AD6-F07E-73F7744C3874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353800" y="5594350"/>
            <a:ext cx="838200" cy="365125"/>
          </a:xfrm>
        </p:spPr>
        <p:txBody>
          <a:bodyPr/>
          <a:lstStyle/>
          <a:p>
            <a:pPr lvl="0"/>
            <a:fld id="{00000000-1234-1234-1234-123412341234}" type="slidenum">
              <a:rPr lang="pt-BR" smtClean="0"/>
              <a:pPr lvl="0"/>
              <a:t>22</a:t>
            </a:fld>
            <a:endParaRPr lang="pt-BR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BD3E4572-F233-8BD7-3D92-BCED64B565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15900" y="-71438"/>
            <a:ext cx="12522201" cy="7043738"/>
          </a:xfrm>
          <a:prstGeom prst="rect">
            <a:avLst/>
          </a:prstGeom>
        </p:spPr>
      </p:pic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65BEB752-1312-D4FE-6CB8-A68F8FD75790}"/>
              </a:ext>
            </a:extLst>
          </p:cNvPr>
          <p:cNvCxnSpPr>
            <a:cxnSpLocks/>
          </p:cNvCxnSpPr>
          <p:nvPr/>
        </p:nvCxnSpPr>
        <p:spPr>
          <a:xfrm>
            <a:off x="856932" y="743587"/>
            <a:ext cx="0" cy="828040"/>
          </a:xfrm>
          <a:prstGeom prst="line">
            <a:avLst/>
          </a:prstGeom>
          <a:ln>
            <a:solidFill>
              <a:srgbClr val="ED145B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2" name="Google Shape;85;p6">
            <a:extLst>
              <a:ext uri="{FF2B5EF4-FFF2-40B4-BE49-F238E27FC236}">
                <a16:creationId xmlns:a16="http://schemas.microsoft.com/office/drawing/2014/main" id="{0F3A88EA-E1D2-7013-CE00-A6E53CEF8CE7}"/>
              </a:ext>
            </a:extLst>
          </p:cNvPr>
          <p:cNvSpPr txBox="1">
            <a:spLocks/>
          </p:cNvSpPr>
          <p:nvPr/>
        </p:nvSpPr>
        <p:spPr>
          <a:xfrm>
            <a:off x="945515" y="664529"/>
            <a:ext cx="10300970" cy="986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20000"/>
              </a:lnSpc>
              <a:buClr>
                <a:srgbClr val="595959"/>
              </a:buClr>
              <a:buSzPct val="222222"/>
            </a:pPr>
            <a:r>
              <a:rPr lang="pt-BR" sz="4300" dirty="0" err="1">
                <a:solidFill>
                  <a:schemeClr val="bg1"/>
                </a:solidFill>
              </a:rPr>
              <a:t>Pseudo-elemento</a:t>
            </a:r>
            <a:br>
              <a:rPr lang="pt-BR" sz="4300" dirty="0">
                <a:solidFill>
                  <a:schemeClr val="tx2">
                    <a:lumMod val="90000"/>
                  </a:schemeClr>
                </a:solidFill>
              </a:rPr>
            </a:br>
            <a:r>
              <a:rPr lang="pt-BR" sz="2000" dirty="0">
                <a:solidFill>
                  <a:schemeClr val="tx2">
                    <a:lumMod val="90000"/>
                  </a:schemeClr>
                </a:solidFill>
              </a:rPr>
              <a:t>Servem para selecionar uma parte específica de um elemento.</a:t>
            </a:r>
          </a:p>
        </p:txBody>
      </p:sp>
      <p:sp>
        <p:nvSpPr>
          <p:cNvPr id="23" name="Google Shape;87;p6">
            <a:extLst>
              <a:ext uri="{FF2B5EF4-FFF2-40B4-BE49-F238E27FC236}">
                <a16:creationId xmlns:a16="http://schemas.microsoft.com/office/drawing/2014/main" id="{EEB16FE7-B351-59EE-F730-7FE109023723}"/>
              </a:ext>
            </a:extLst>
          </p:cNvPr>
          <p:cNvSpPr txBox="1"/>
          <p:nvPr/>
        </p:nvSpPr>
        <p:spPr>
          <a:xfrm>
            <a:off x="856932" y="1831157"/>
            <a:ext cx="6652200" cy="15978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rtl="0">
              <a:lnSpc>
                <a:spcPct val="150000"/>
              </a:lnSpc>
              <a:spcBef>
                <a:spcPts val="2000"/>
              </a:spcBef>
              <a:spcAft>
                <a:spcPts val="110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pt-BR" sz="4400" b="1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::</a:t>
            </a:r>
            <a:r>
              <a:rPr lang="pt-BR" sz="4400" b="1" i="0" u="none" strike="noStrike" cap="none" dirty="0" err="1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first-line</a:t>
            </a:r>
            <a:endParaRPr sz="4400" b="1" i="0" u="none" strike="noStrike" cap="none" dirty="0">
              <a:solidFill>
                <a:schemeClr val="tx2">
                  <a:lumMod val="90000"/>
                </a:schemeClr>
              </a:solidFill>
              <a:highlight>
                <a:schemeClr val="accent6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49;p13">
            <a:extLst>
              <a:ext uri="{FF2B5EF4-FFF2-40B4-BE49-F238E27FC236}">
                <a16:creationId xmlns:a16="http://schemas.microsoft.com/office/drawing/2014/main" id="{8BF09E09-E7A2-6C3A-9B44-D3DDB67F380C}"/>
              </a:ext>
            </a:extLst>
          </p:cNvPr>
          <p:cNvSpPr txBox="1"/>
          <p:nvPr/>
        </p:nvSpPr>
        <p:spPr>
          <a:xfrm>
            <a:off x="783272" y="3161030"/>
            <a:ext cx="10625455" cy="752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>
              <a:buClr>
                <a:schemeClr val="dk1"/>
              </a:buClr>
              <a:buSzPts val="1800"/>
            </a:pPr>
            <a:r>
              <a:rPr lang="pt-BR" sz="2400" dirty="0">
                <a:solidFill>
                  <a:schemeClr val="tx2">
                    <a:lumMod val="90000"/>
                  </a:schemeClr>
                </a:solidFill>
              </a:rPr>
              <a:t>Usada para formatar a </a:t>
            </a:r>
            <a:r>
              <a:rPr lang="pt-BR" sz="2400" b="1" dirty="0">
                <a:solidFill>
                  <a:srgbClr val="ED145B"/>
                </a:solidFill>
              </a:rPr>
              <a:t>primeira linha</a:t>
            </a:r>
            <a:r>
              <a:rPr lang="pt-BR" sz="2400" dirty="0">
                <a:solidFill>
                  <a:schemeClr val="tx2">
                    <a:lumMod val="90000"/>
                  </a:schemeClr>
                </a:solidFill>
              </a:rPr>
              <a:t> de um elemento.</a:t>
            </a:r>
          </a:p>
        </p:txBody>
      </p:sp>
      <p:graphicFrame>
        <p:nvGraphicFramePr>
          <p:cNvPr id="5" name="Google Shape;237;p23">
            <a:extLst>
              <a:ext uri="{FF2B5EF4-FFF2-40B4-BE49-F238E27FC236}">
                <a16:creationId xmlns:a16="http://schemas.microsoft.com/office/drawing/2014/main" id="{115C664C-94FD-8ADE-25D2-840C200A87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06565184"/>
              </p:ext>
            </p:extLst>
          </p:nvPr>
        </p:nvGraphicFramePr>
        <p:xfrm>
          <a:off x="4183032" y="4289265"/>
          <a:ext cx="3681300" cy="1224280"/>
        </p:xfrm>
        <a:graphic>
          <a:graphicData uri="http://schemas.openxmlformats.org/drawingml/2006/table">
            <a:tbl>
              <a:tblPr>
                <a:noFill/>
                <a:tableStyleId>{63B152E9-AFB2-458E-BFAF-78D379E83702}</a:tableStyleId>
              </a:tblPr>
              <a:tblGrid>
                <a:gridCol w="3681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51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400" b="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</a:t>
                      </a:r>
                      <a:r>
                        <a:rPr lang="pt-BR" sz="2400" b="0" i="1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::</a:t>
                      </a:r>
                      <a:r>
                        <a:rPr lang="pt-BR" sz="2400" b="0" i="1" u="none" strike="noStrike" cap="none" dirty="0">
                          <a:solidFill>
                            <a:srgbClr val="50FA7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first-line</a:t>
                      </a: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{</a:t>
                      </a:r>
                      <a:endParaRPr sz="2400" u="none" strike="noStrike" cap="none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    </a:t>
                      </a:r>
                      <a:r>
                        <a:rPr lang="pt-BR" sz="2400" b="0" u="none" strike="noStrike" cap="none" dirty="0">
                          <a:solidFill>
                            <a:srgbClr val="8BE9FD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color</a:t>
                      </a:r>
                      <a:r>
                        <a:rPr lang="pt-BR" sz="2400" b="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</a:t>
                      </a: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pt-BR" sz="2400" b="0" u="none" strike="noStrike" cap="none" dirty="0">
                          <a:solidFill>
                            <a:srgbClr val="BD93F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blue</a:t>
                      </a: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;</a:t>
                      </a:r>
                      <a:endParaRPr sz="2400" u="none" strike="noStrike" cap="none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}</a:t>
                      </a:r>
                      <a:endParaRPr sz="2400" u="none" strike="noStrike" cap="none" dirty="0"/>
                    </a:p>
                  </a:txBody>
                  <a:tcPr marL="63500" marR="63500" marT="63500" marB="63500">
                    <a:lnL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C34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13025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AAB73-C128-69AE-556A-9EB0176F1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>
            <a:extLst>
              <a:ext uri="{FF2B5EF4-FFF2-40B4-BE49-F238E27FC236}">
                <a16:creationId xmlns:a16="http://schemas.microsoft.com/office/drawing/2014/main" id="{6830CFCF-975E-032F-0588-663F10EAD60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E720A659-4D08-9236-8BA2-8E697561DC14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353800" y="5594350"/>
            <a:ext cx="838200" cy="365125"/>
          </a:xfrm>
        </p:spPr>
        <p:txBody>
          <a:bodyPr/>
          <a:lstStyle/>
          <a:p>
            <a:pPr lvl="0"/>
            <a:fld id="{00000000-1234-1234-1234-123412341234}" type="slidenum">
              <a:rPr lang="pt-BR" smtClean="0"/>
              <a:pPr lvl="0"/>
              <a:t>23</a:t>
            </a:fld>
            <a:endParaRPr lang="pt-BR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3E50D977-77E7-7E06-07A0-7058B0A9ED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15900" y="-71438"/>
            <a:ext cx="12522201" cy="7043738"/>
          </a:xfrm>
          <a:prstGeom prst="rect">
            <a:avLst/>
          </a:prstGeom>
        </p:spPr>
      </p:pic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CB38BAC7-49A8-CDD4-05C4-C3389CDFE3FD}"/>
              </a:ext>
            </a:extLst>
          </p:cNvPr>
          <p:cNvCxnSpPr>
            <a:cxnSpLocks/>
          </p:cNvCxnSpPr>
          <p:nvPr/>
        </p:nvCxnSpPr>
        <p:spPr>
          <a:xfrm>
            <a:off x="856932" y="743587"/>
            <a:ext cx="0" cy="828040"/>
          </a:xfrm>
          <a:prstGeom prst="line">
            <a:avLst/>
          </a:prstGeom>
          <a:ln>
            <a:solidFill>
              <a:srgbClr val="ED145B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2" name="Google Shape;85;p6">
            <a:extLst>
              <a:ext uri="{FF2B5EF4-FFF2-40B4-BE49-F238E27FC236}">
                <a16:creationId xmlns:a16="http://schemas.microsoft.com/office/drawing/2014/main" id="{F1CB49AB-0FDA-6B3C-84BF-5AEAA250EEB5}"/>
              </a:ext>
            </a:extLst>
          </p:cNvPr>
          <p:cNvSpPr txBox="1">
            <a:spLocks/>
          </p:cNvSpPr>
          <p:nvPr/>
        </p:nvSpPr>
        <p:spPr>
          <a:xfrm>
            <a:off x="945515" y="664529"/>
            <a:ext cx="10300970" cy="986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20000"/>
              </a:lnSpc>
              <a:buClr>
                <a:srgbClr val="595959"/>
              </a:buClr>
              <a:buSzPct val="222222"/>
            </a:pPr>
            <a:r>
              <a:rPr lang="pt-BR" sz="4300" dirty="0" err="1">
                <a:solidFill>
                  <a:schemeClr val="bg1"/>
                </a:solidFill>
              </a:rPr>
              <a:t>Pseudo-elemento</a:t>
            </a:r>
            <a:br>
              <a:rPr lang="pt-BR" sz="4300" dirty="0">
                <a:solidFill>
                  <a:schemeClr val="tx2">
                    <a:lumMod val="90000"/>
                  </a:schemeClr>
                </a:solidFill>
              </a:rPr>
            </a:br>
            <a:r>
              <a:rPr lang="pt-BR" sz="2000" dirty="0">
                <a:solidFill>
                  <a:schemeClr val="tx2">
                    <a:lumMod val="90000"/>
                  </a:schemeClr>
                </a:solidFill>
              </a:rPr>
              <a:t>Servem para selecionar uma parte específica de um elemento.</a:t>
            </a:r>
          </a:p>
        </p:txBody>
      </p:sp>
      <p:sp>
        <p:nvSpPr>
          <p:cNvPr id="23" name="Google Shape;87;p6">
            <a:extLst>
              <a:ext uri="{FF2B5EF4-FFF2-40B4-BE49-F238E27FC236}">
                <a16:creationId xmlns:a16="http://schemas.microsoft.com/office/drawing/2014/main" id="{1661CAB7-C3D1-19AD-B17B-B3391B29710B}"/>
              </a:ext>
            </a:extLst>
          </p:cNvPr>
          <p:cNvSpPr txBox="1"/>
          <p:nvPr/>
        </p:nvSpPr>
        <p:spPr>
          <a:xfrm>
            <a:off x="856932" y="1831157"/>
            <a:ext cx="6652200" cy="15978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rtl="0">
              <a:lnSpc>
                <a:spcPct val="150000"/>
              </a:lnSpc>
              <a:spcBef>
                <a:spcPts val="2000"/>
              </a:spcBef>
              <a:spcAft>
                <a:spcPts val="110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pt-BR" sz="4400" b="1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::</a:t>
            </a:r>
            <a:r>
              <a:rPr lang="pt-BR" sz="4400" b="1" i="0" u="none" strike="noStrike" cap="none" dirty="0" err="1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selection</a:t>
            </a:r>
            <a:endParaRPr sz="4400" b="1" i="0" u="none" strike="noStrike" cap="none" dirty="0">
              <a:solidFill>
                <a:schemeClr val="tx2">
                  <a:lumMod val="90000"/>
                </a:schemeClr>
              </a:solidFill>
              <a:highlight>
                <a:schemeClr val="accent6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49;p13">
            <a:extLst>
              <a:ext uri="{FF2B5EF4-FFF2-40B4-BE49-F238E27FC236}">
                <a16:creationId xmlns:a16="http://schemas.microsoft.com/office/drawing/2014/main" id="{57F76A9D-AC7C-D66E-307C-D57D41F5164E}"/>
              </a:ext>
            </a:extLst>
          </p:cNvPr>
          <p:cNvSpPr txBox="1"/>
          <p:nvPr/>
        </p:nvSpPr>
        <p:spPr>
          <a:xfrm>
            <a:off x="783272" y="3161030"/>
            <a:ext cx="10625455" cy="752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>
              <a:buClr>
                <a:schemeClr val="dk1"/>
              </a:buClr>
              <a:buSzPts val="1800"/>
            </a:pPr>
            <a:r>
              <a:rPr lang="pt-BR" sz="2400" dirty="0">
                <a:solidFill>
                  <a:schemeClr val="tx2">
                    <a:lumMod val="90000"/>
                  </a:schemeClr>
                </a:solidFill>
              </a:rPr>
              <a:t>Usada para formatar um </a:t>
            </a:r>
            <a:r>
              <a:rPr lang="pt-BR" sz="2400" b="1" dirty="0">
                <a:solidFill>
                  <a:srgbClr val="ED145B"/>
                </a:solidFill>
              </a:rPr>
              <a:t>elemento selecionado </a:t>
            </a:r>
            <a:r>
              <a:rPr lang="pt-BR" sz="2400" dirty="0">
                <a:solidFill>
                  <a:schemeClr val="tx2">
                    <a:lumMod val="90000"/>
                  </a:schemeClr>
                </a:solidFill>
              </a:rPr>
              <a:t>com um mouse, por um usuário.</a:t>
            </a:r>
          </a:p>
        </p:txBody>
      </p:sp>
      <p:graphicFrame>
        <p:nvGraphicFramePr>
          <p:cNvPr id="4" name="Google Shape;246;p24">
            <a:extLst>
              <a:ext uri="{FF2B5EF4-FFF2-40B4-BE49-F238E27FC236}">
                <a16:creationId xmlns:a16="http://schemas.microsoft.com/office/drawing/2014/main" id="{5CA4648D-C677-C992-DAA9-AE9A4A37BAA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80594867"/>
              </p:ext>
            </p:extLst>
          </p:nvPr>
        </p:nvGraphicFramePr>
        <p:xfrm>
          <a:off x="3691887" y="4314825"/>
          <a:ext cx="4706625" cy="1644650"/>
        </p:xfrm>
        <a:graphic>
          <a:graphicData uri="http://schemas.openxmlformats.org/drawingml/2006/table">
            <a:tbl>
              <a:tblPr>
                <a:noFill/>
                <a:tableStyleId>{63B152E9-AFB2-458E-BFAF-78D379E83702}</a:tableStyleId>
              </a:tblPr>
              <a:tblGrid>
                <a:gridCol w="4706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446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400" b="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</a:t>
                      </a:r>
                      <a:r>
                        <a:rPr lang="pt-BR" sz="2400" b="0" i="1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::</a:t>
                      </a:r>
                      <a:r>
                        <a:rPr lang="pt-BR" sz="2400" b="0" i="1" u="none" strike="noStrike" cap="none" dirty="0">
                          <a:solidFill>
                            <a:srgbClr val="50FA7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selection</a:t>
                      </a: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{</a:t>
                      </a:r>
                      <a:endParaRPr sz="2400" u="none" strike="noStrike" cap="none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    </a:t>
                      </a:r>
                      <a:r>
                        <a:rPr lang="pt-BR" sz="2400" b="0" u="none" strike="noStrike" cap="none" dirty="0">
                          <a:solidFill>
                            <a:srgbClr val="8BE9FD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color</a:t>
                      </a:r>
                      <a:r>
                        <a:rPr lang="pt-BR" sz="2400" b="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</a:t>
                      </a: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pt-BR" sz="2400" b="0" u="none" strike="noStrike" cap="none" dirty="0" err="1">
                          <a:solidFill>
                            <a:srgbClr val="BD93F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red</a:t>
                      </a: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;</a:t>
                      </a:r>
                      <a:endParaRPr sz="2400" u="none" strike="noStrike" cap="none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    </a:t>
                      </a:r>
                      <a:r>
                        <a:rPr lang="pt-BR" sz="2400" b="0" u="none" strike="noStrike" cap="none" dirty="0">
                          <a:solidFill>
                            <a:srgbClr val="8BE9FD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background</a:t>
                      </a:r>
                      <a:r>
                        <a:rPr lang="pt-BR" sz="2400" b="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</a:t>
                      </a: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pt-BR" sz="2400" b="0" u="none" strike="noStrike" cap="none" dirty="0" err="1">
                          <a:solidFill>
                            <a:srgbClr val="BD93F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yellow</a:t>
                      </a: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;</a:t>
                      </a:r>
                      <a:endParaRPr sz="2400" u="none" strike="noStrike" cap="none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}</a:t>
                      </a:r>
                      <a:endParaRPr sz="2400" b="0" u="none" strike="noStrike" cap="none" dirty="0">
                        <a:solidFill>
                          <a:srgbClr val="F8F8F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63500" marR="63500" marT="63500" marB="63500">
                    <a:lnL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C34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824505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9CE8A-4934-7A8C-AA17-7D29996EA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>
            <a:extLst>
              <a:ext uri="{FF2B5EF4-FFF2-40B4-BE49-F238E27FC236}">
                <a16:creationId xmlns:a16="http://schemas.microsoft.com/office/drawing/2014/main" id="{06A6ED6A-29A6-E3CC-39E1-A847792BB23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61197DE2-ACB5-B904-9FFF-231D217CEEA5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353800" y="5594350"/>
            <a:ext cx="838200" cy="365125"/>
          </a:xfrm>
        </p:spPr>
        <p:txBody>
          <a:bodyPr/>
          <a:lstStyle/>
          <a:p>
            <a:pPr lvl="0"/>
            <a:fld id="{00000000-1234-1234-1234-123412341234}" type="slidenum">
              <a:rPr lang="pt-BR" smtClean="0"/>
              <a:pPr lvl="0"/>
              <a:t>24</a:t>
            </a:fld>
            <a:endParaRPr lang="pt-BR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1D8E7BB2-C5FE-2BB4-42EC-04957D0867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15900" y="-71438"/>
            <a:ext cx="12522201" cy="7043738"/>
          </a:xfrm>
          <a:prstGeom prst="rect">
            <a:avLst/>
          </a:prstGeom>
        </p:spPr>
      </p:pic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EE9B5A0E-B666-0AF2-91D4-B2BC4D59B976}"/>
              </a:ext>
            </a:extLst>
          </p:cNvPr>
          <p:cNvCxnSpPr>
            <a:cxnSpLocks/>
          </p:cNvCxnSpPr>
          <p:nvPr/>
        </p:nvCxnSpPr>
        <p:spPr>
          <a:xfrm>
            <a:off x="856932" y="743587"/>
            <a:ext cx="0" cy="828040"/>
          </a:xfrm>
          <a:prstGeom prst="line">
            <a:avLst/>
          </a:prstGeom>
          <a:ln>
            <a:solidFill>
              <a:srgbClr val="ED145B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2" name="Google Shape;85;p6">
            <a:extLst>
              <a:ext uri="{FF2B5EF4-FFF2-40B4-BE49-F238E27FC236}">
                <a16:creationId xmlns:a16="http://schemas.microsoft.com/office/drawing/2014/main" id="{400DFC72-F466-FFBE-B086-567188187BCD}"/>
              </a:ext>
            </a:extLst>
          </p:cNvPr>
          <p:cNvSpPr txBox="1">
            <a:spLocks/>
          </p:cNvSpPr>
          <p:nvPr/>
        </p:nvSpPr>
        <p:spPr>
          <a:xfrm>
            <a:off x="945515" y="664529"/>
            <a:ext cx="10300970" cy="986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20000"/>
              </a:lnSpc>
              <a:buClr>
                <a:srgbClr val="595959"/>
              </a:buClr>
              <a:buSzPct val="222222"/>
            </a:pPr>
            <a:r>
              <a:rPr lang="pt-BR" sz="4300" dirty="0" err="1">
                <a:solidFill>
                  <a:schemeClr val="bg1"/>
                </a:solidFill>
              </a:rPr>
              <a:t>Pseudo-elemento</a:t>
            </a:r>
            <a:br>
              <a:rPr lang="pt-BR" sz="4300" dirty="0">
                <a:solidFill>
                  <a:schemeClr val="tx2">
                    <a:lumMod val="90000"/>
                  </a:schemeClr>
                </a:solidFill>
              </a:rPr>
            </a:br>
            <a:r>
              <a:rPr lang="pt-BR" sz="2000" dirty="0">
                <a:solidFill>
                  <a:schemeClr val="tx2">
                    <a:lumMod val="90000"/>
                  </a:schemeClr>
                </a:solidFill>
              </a:rPr>
              <a:t>Servem para selecionar uma parte específica de um elemento.</a:t>
            </a:r>
          </a:p>
        </p:txBody>
      </p:sp>
      <p:sp>
        <p:nvSpPr>
          <p:cNvPr id="23" name="Google Shape;87;p6">
            <a:extLst>
              <a:ext uri="{FF2B5EF4-FFF2-40B4-BE49-F238E27FC236}">
                <a16:creationId xmlns:a16="http://schemas.microsoft.com/office/drawing/2014/main" id="{D26A30F2-8D13-22BF-5527-4C39491A8600}"/>
              </a:ext>
            </a:extLst>
          </p:cNvPr>
          <p:cNvSpPr txBox="1"/>
          <p:nvPr/>
        </p:nvSpPr>
        <p:spPr>
          <a:xfrm>
            <a:off x="856932" y="1831157"/>
            <a:ext cx="6652200" cy="15978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rtl="0">
              <a:lnSpc>
                <a:spcPct val="150000"/>
              </a:lnSpc>
              <a:spcBef>
                <a:spcPts val="2000"/>
              </a:spcBef>
              <a:spcAft>
                <a:spcPts val="110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pt-BR" sz="4400" b="1" i="0" u="none" strike="noStrike" cap="none" dirty="0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::</a:t>
            </a:r>
            <a:r>
              <a:rPr lang="pt-BR" sz="4400" b="1" i="0" u="none" strike="noStrike" cap="none" dirty="0" err="1">
                <a:solidFill>
                  <a:schemeClr val="tx2">
                    <a:lumMod val="9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marker</a:t>
            </a:r>
            <a:endParaRPr sz="4400" b="1" i="0" u="none" strike="noStrike" cap="none" dirty="0">
              <a:solidFill>
                <a:schemeClr val="tx2">
                  <a:lumMod val="90000"/>
                </a:schemeClr>
              </a:solidFill>
              <a:highlight>
                <a:schemeClr val="accent6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49;p13">
            <a:extLst>
              <a:ext uri="{FF2B5EF4-FFF2-40B4-BE49-F238E27FC236}">
                <a16:creationId xmlns:a16="http://schemas.microsoft.com/office/drawing/2014/main" id="{F3931D22-4B55-DE67-3555-09C78CED618F}"/>
              </a:ext>
            </a:extLst>
          </p:cNvPr>
          <p:cNvSpPr txBox="1"/>
          <p:nvPr/>
        </p:nvSpPr>
        <p:spPr>
          <a:xfrm>
            <a:off x="783272" y="3161030"/>
            <a:ext cx="10625455" cy="752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>
              <a:buClr>
                <a:schemeClr val="dk1"/>
              </a:buClr>
              <a:buSzPts val="1800"/>
            </a:pPr>
            <a:r>
              <a:rPr lang="pt-BR" sz="2400" dirty="0">
                <a:solidFill>
                  <a:schemeClr val="tx2">
                    <a:lumMod val="90000"/>
                  </a:schemeClr>
                </a:solidFill>
              </a:rPr>
              <a:t>Usada para formatar </a:t>
            </a:r>
            <a:r>
              <a:rPr lang="pt-BR" sz="2400" b="1" dirty="0">
                <a:solidFill>
                  <a:srgbClr val="ED145B"/>
                </a:solidFill>
              </a:rPr>
              <a:t>os marcadores dos itens de lista</a:t>
            </a:r>
            <a:r>
              <a:rPr lang="pt-BR" sz="2400" dirty="0">
                <a:solidFill>
                  <a:schemeClr val="tx2">
                    <a:lumMod val="90000"/>
                  </a:schemeClr>
                </a:solidFill>
              </a:rPr>
              <a:t> (</a:t>
            </a:r>
            <a:r>
              <a:rPr lang="pt-BR" sz="2400" dirty="0" err="1">
                <a:solidFill>
                  <a:schemeClr val="tx2">
                    <a:lumMod val="90000"/>
                  </a:schemeClr>
                </a:solidFill>
              </a:rPr>
              <a:t>Ex</a:t>
            </a:r>
            <a:r>
              <a:rPr lang="pt-BR" sz="2400" dirty="0">
                <a:solidFill>
                  <a:schemeClr val="tx2">
                    <a:lumMod val="90000"/>
                  </a:schemeClr>
                </a:solidFill>
              </a:rPr>
              <a:t>: </a:t>
            </a:r>
            <a:r>
              <a:rPr lang="pt-BR" sz="2400" dirty="0" err="1">
                <a:solidFill>
                  <a:schemeClr val="tx2">
                    <a:lumMod val="90000"/>
                  </a:schemeClr>
                </a:solidFill>
              </a:rPr>
              <a:t>bullet</a:t>
            </a:r>
            <a:r>
              <a:rPr lang="pt-BR" sz="2400" dirty="0">
                <a:solidFill>
                  <a:schemeClr val="tx2">
                    <a:lumMod val="90000"/>
                  </a:schemeClr>
                </a:solidFill>
              </a:rPr>
              <a:t> points).</a:t>
            </a:r>
          </a:p>
        </p:txBody>
      </p:sp>
      <p:graphicFrame>
        <p:nvGraphicFramePr>
          <p:cNvPr id="4" name="Google Shape;255;p25">
            <a:extLst>
              <a:ext uri="{FF2B5EF4-FFF2-40B4-BE49-F238E27FC236}">
                <a16:creationId xmlns:a16="http://schemas.microsoft.com/office/drawing/2014/main" id="{4CB6AA3C-CACC-F503-7E1D-01D9C4F49D7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66043486"/>
              </p:ext>
            </p:extLst>
          </p:nvPr>
        </p:nvGraphicFramePr>
        <p:xfrm>
          <a:off x="4183032" y="4144326"/>
          <a:ext cx="3681300" cy="1590040"/>
        </p:xfrm>
        <a:graphic>
          <a:graphicData uri="http://schemas.openxmlformats.org/drawingml/2006/table">
            <a:tbl>
              <a:tblPr>
                <a:noFill/>
                <a:tableStyleId>{63B152E9-AFB2-458E-BFAF-78D379E83702}</a:tableStyleId>
              </a:tblPr>
              <a:tblGrid>
                <a:gridCol w="3681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0687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400" b="0" i="1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::</a:t>
                      </a:r>
                      <a:r>
                        <a:rPr lang="pt-BR" sz="2400" b="0" i="1" u="none" strike="noStrike" cap="none" dirty="0" err="1">
                          <a:solidFill>
                            <a:srgbClr val="50FA7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marker</a:t>
                      </a: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{</a:t>
                      </a:r>
                      <a:endParaRPr sz="2400" u="none" strike="noStrike" cap="none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    </a:t>
                      </a:r>
                      <a:r>
                        <a:rPr lang="pt-BR" sz="2400" b="0" u="none" strike="noStrike" cap="none" dirty="0">
                          <a:solidFill>
                            <a:srgbClr val="8BE9FD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color</a:t>
                      </a:r>
                      <a:r>
                        <a:rPr lang="pt-BR" sz="2400" b="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</a:t>
                      </a: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pt-BR" sz="2400" b="0" u="none" strike="noStrike" cap="none" dirty="0" err="1">
                          <a:solidFill>
                            <a:srgbClr val="BD93F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red</a:t>
                      </a: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;</a:t>
                      </a:r>
                      <a:endParaRPr sz="2400" u="none" strike="noStrike" cap="none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    </a:t>
                      </a:r>
                      <a:r>
                        <a:rPr lang="pt-BR" sz="2400" b="0" u="none" strike="noStrike" cap="none" dirty="0" err="1">
                          <a:solidFill>
                            <a:srgbClr val="8BE9FD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font-size</a:t>
                      </a:r>
                      <a:r>
                        <a:rPr lang="pt-BR" sz="2400" b="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:</a:t>
                      </a: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pt-BR" sz="2400" b="0" u="none" strike="noStrike" cap="none" dirty="0">
                          <a:solidFill>
                            <a:srgbClr val="BD93F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23</a:t>
                      </a:r>
                      <a:r>
                        <a:rPr lang="pt-BR" sz="2400" b="0" u="none" strike="noStrike" cap="none" dirty="0">
                          <a:solidFill>
                            <a:srgbClr val="FF79C6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px</a:t>
                      </a: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;</a:t>
                      </a:r>
                      <a:endParaRPr sz="2400" u="none" strike="noStrike" cap="none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pt-BR" sz="2400" b="0" u="none" strike="noStrike" cap="none" dirty="0">
                          <a:solidFill>
                            <a:srgbClr val="F8F8F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}</a:t>
                      </a:r>
                      <a:endParaRPr sz="2400" b="0" u="none" strike="noStrike" cap="none" dirty="0">
                        <a:solidFill>
                          <a:srgbClr val="F8F8F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63500" marR="63500" marT="63500" marB="63500">
                    <a:lnL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EAFF6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C34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97237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6"/>
          <p:cNvSpPr txBox="1">
            <a:spLocks noGrp="1"/>
          </p:cNvSpPr>
          <p:nvPr>
            <p:ph type="title"/>
          </p:nvPr>
        </p:nvSpPr>
        <p:spPr>
          <a:xfrm>
            <a:off x="838200" y="387985"/>
            <a:ext cx="10300970" cy="986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4400"/>
              <a:buFont typeface="Arial"/>
              <a:buNone/>
            </a:pPr>
            <a:r>
              <a:rPr lang="pt-BR"/>
              <a:t>Para Praticar!</a:t>
            </a:r>
            <a:endParaRPr/>
          </a:p>
        </p:txBody>
      </p:sp>
      <p:sp>
        <p:nvSpPr>
          <p:cNvPr id="261" name="Google Shape;261;p26"/>
          <p:cNvSpPr txBox="1">
            <a:spLocks noGrp="1"/>
          </p:cNvSpPr>
          <p:nvPr>
            <p:ph type="sldNum" idx="12"/>
          </p:nvPr>
        </p:nvSpPr>
        <p:spPr>
          <a:xfrm>
            <a:off x="11353798" y="5594349"/>
            <a:ext cx="83820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pt-BR"/>
              <a:t>25</a:t>
            </a:fld>
            <a:endParaRPr/>
          </a:p>
        </p:txBody>
      </p:sp>
      <p:sp>
        <p:nvSpPr>
          <p:cNvPr id="262" name="Google Shape;262;p26"/>
          <p:cNvSpPr txBox="1"/>
          <p:nvPr/>
        </p:nvSpPr>
        <p:spPr>
          <a:xfrm>
            <a:off x="911860" y="1628775"/>
            <a:ext cx="10227310" cy="4490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pt-BR" sz="28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Descrição da atividade. </a:t>
            </a:r>
            <a:endParaRPr sz="28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Instruções: Crie alguns elementos usando as tags HTML e insira nesses elementos as pseudo-classes que aprendemos:</a:t>
            </a:r>
            <a:endParaRPr sz="2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143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DM Sans"/>
              <a:buChar char="✓"/>
            </a:pPr>
            <a:r>
              <a:rPr lang="pt-BR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placeholder</a:t>
            </a:r>
            <a:endParaRPr sz="2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143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DM Sans"/>
              <a:buChar char="✓"/>
            </a:pPr>
            <a:r>
              <a:rPr lang="pt-BR"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first-letter</a:t>
            </a:r>
            <a:endParaRPr sz="2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143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DM Sans"/>
              <a:buChar char="✓"/>
            </a:pPr>
            <a:r>
              <a:rPr lang="pt-BR"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first-line</a:t>
            </a:r>
            <a:endParaRPr sz="2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143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DM Sans"/>
              <a:buChar char="✓"/>
            </a:pPr>
            <a:r>
              <a:rPr lang="pt-BR"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selection</a:t>
            </a:r>
            <a:endParaRPr sz="2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143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DM Sans"/>
              <a:buChar char="✓"/>
            </a:pPr>
            <a:r>
              <a:rPr lang="pt-BR"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marker</a:t>
            </a:r>
            <a:endParaRPr sz="2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7"/>
          <p:cNvSpPr txBox="1">
            <a:spLocks noGrp="1"/>
          </p:cNvSpPr>
          <p:nvPr>
            <p:ph type="title"/>
          </p:nvPr>
        </p:nvSpPr>
        <p:spPr>
          <a:xfrm>
            <a:off x="838200" y="387750"/>
            <a:ext cx="10515600" cy="985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4400"/>
              <a:buFont typeface="Arial"/>
              <a:buNone/>
            </a:pPr>
            <a:r>
              <a:rPr lang="pt-BR"/>
              <a:t>Referências:</a:t>
            </a:r>
            <a:endParaRPr/>
          </a:p>
        </p:txBody>
      </p:sp>
      <p:sp>
        <p:nvSpPr>
          <p:cNvPr id="268" name="Google Shape;268;p27"/>
          <p:cNvSpPr txBox="1">
            <a:spLocks noGrp="1"/>
          </p:cNvSpPr>
          <p:nvPr>
            <p:ph type="sldNum" idx="12"/>
          </p:nvPr>
        </p:nvSpPr>
        <p:spPr>
          <a:xfrm>
            <a:off x="11353798" y="5594349"/>
            <a:ext cx="83820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pt-BR"/>
              <a:t>26</a:t>
            </a:fld>
            <a:endParaRPr/>
          </a:p>
        </p:txBody>
      </p:sp>
      <p:sp>
        <p:nvSpPr>
          <p:cNvPr id="269" name="Google Shape;269;p27"/>
          <p:cNvSpPr txBox="1"/>
          <p:nvPr/>
        </p:nvSpPr>
        <p:spPr>
          <a:xfrm>
            <a:off x="911860" y="1700530"/>
            <a:ext cx="10133965" cy="4094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</a:pPr>
            <a:endParaRPr sz="28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143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DM Sans"/>
              <a:buChar char="✓"/>
            </a:pPr>
            <a:r>
              <a:rPr lang="pt-BR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Documentação de Pseudo-classes</a:t>
            </a:r>
            <a:br>
              <a:rPr lang="pt-BR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pt-BR" sz="2800" b="0" i="0" u="sng" strike="noStrike" cap="none">
                <a:solidFill>
                  <a:schemeClr val="dk1"/>
                </a:solidFill>
                <a:highlight>
                  <a:srgbClr val="EAFF6A"/>
                </a:highlight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https://developer.mozilla.org/pt-BR/docs/Web/CSS/Pseudo-classes</a:t>
            </a:r>
            <a:r>
              <a:rPr lang="pt-BR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2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143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DM Sans"/>
              <a:buChar char="✓"/>
            </a:pPr>
            <a:r>
              <a:rPr lang="pt-BR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Documentação de Pseudo-elementos</a:t>
            </a:r>
            <a:endParaRPr sz="2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pt-BR" sz="2800" b="0" i="0" u="sng" strike="noStrike" cap="none">
                <a:solidFill>
                  <a:schemeClr val="dk1"/>
                </a:solidFill>
                <a:highlight>
                  <a:srgbClr val="EAFF6A"/>
                </a:highlight>
                <a:latin typeface="Arial"/>
                <a:ea typeface="Arial"/>
                <a:cs typeface="Arial"/>
                <a:sym typeface="Arial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https://developer.mozilla.org/pt-BR/docs/Web/CSS/Pseudo-elements</a:t>
            </a:r>
            <a:r>
              <a:rPr lang="pt-BR" sz="2800" b="0" i="0" u="none" strike="noStrike" cap="none">
                <a:solidFill>
                  <a:schemeClr val="dk1"/>
                </a:solidFill>
                <a:highlight>
                  <a:srgbClr val="EAFF6A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endParaRPr sz="2800" b="0" i="0" u="none" strike="noStrike" cap="none">
              <a:solidFill>
                <a:schemeClr val="dk1"/>
              </a:solidFill>
              <a:highlight>
                <a:srgbClr val="EAFF6A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</a:pPr>
            <a:r>
              <a:rPr lang="pt-BR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endParaRPr sz="2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endParaRPr sz="2800" b="0" i="0" u="none" strike="noStrike" cap="none">
              <a:solidFill>
                <a:schemeClr val="dk1"/>
              </a:solidFill>
              <a:highlight>
                <a:srgbClr val="EAFF6A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rgbClr val="000000"/>
              </a:buClr>
              <a:buSzPts val="1350"/>
              <a:buFont typeface="Arial"/>
              <a:buNone/>
            </a:pPr>
            <a:endParaRPr sz="2800" b="0" i="0" u="none" strike="noStrike" cap="none">
              <a:solidFill>
                <a:schemeClr val="dk1"/>
              </a:solidFill>
              <a:highlight>
                <a:srgbClr val="EAFF6A"/>
              </a:highlight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28"/>
          <p:cNvSpPr txBox="1">
            <a:spLocks noGrp="1"/>
          </p:cNvSpPr>
          <p:nvPr>
            <p:ph type="title"/>
          </p:nvPr>
        </p:nvSpPr>
        <p:spPr>
          <a:xfrm>
            <a:off x="838199" y="2073528"/>
            <a:ext cx="11183471" cy="1234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8D8D8"/>
              </a:buClr>
              <a:buSzPts val="4000"/>
              <a:buFont typeface="Arial"/>
              <a:buNone/>
            </a:pPr>
            <a:r>
              <a:rPr lang="pt-BR" dirty="0">
                <a:latin typeface="Arial"/>
                <a:ea typeface="Arial"/>
                <a:cs typeface="Arial"/>
                <a:sym typeface="Arial"/>
              </a:rPr>
              <a:t>Copyright © </a:t>
            </a:r>
            <a:fld id="{8CD05165-DC8D-41C3-BEAD-F21174D5DE73}" type="datetimeyyyy">
              <a:rPr lang="pt-BR" smtClean="0">
                <a:latin typeface="Arial"/>
                <a:ea typeface="Arial"/>
                <a:cs typeface="Arial"/>
                <a:sym typeface="Arial"/>
              </a:rPr>
              <a:t>2026</a:t>
            </a:fld>
            <a:br>
              <a:rPr lang="pt-BR" dirty="0">
                <a:latin typeface="Arial"/>
                <a:ea typeface="Arial"/>
                <a:cs typeface="Arial"/>
                <a:sym typeface="Arial"/>
              </a:rPr>
            </a:br>
            <a:r>
              <a:rPr lang="pt-BR" dirty="0"/>
              <a:t>Prof. Lucas Sousa</a:t>
            </a:r>
            <a:endParaRPr dirty="0"/>
          </a:p>
        </p:txBody>
      </p:sp>
      <p:sp>
        <p:nvSpPr>
          <p:cNvPr id="275" name="Google Shape;275;p28"/>
          <p:cNvSpPr txBox="1">
            <a:spLocks noGrp="1"/>
          </p:cNvSpPr>
          <p:nvPr>
            <p:ph type="sldNum" idx="4294967295"/>
          </p:nvPr>
        </p:nvSpPr>
        <p:spPr>
          <a:xfrm>
            <a:off x="11353800" y="5594350"/>
            <a:ext cx="838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pt-BR"/>
              <a:t>27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ersonalizar design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511</TotalTime>
  <Words>1323</Words>
  <Application>Microsoft Office PowerPoint</Application>
  <PresentationFormat>Widescreen</PresentationFormat>
  <Paragraphs>253</Paragraphs>
  <Slides>27</Slides>
  <Notes>9</Notes>
  <HiddenSlides>4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27</vt:i4>
      </vt:variant>
    </vt:vector>
  </HeadingPairs>
  <TitlesOfParts>
    <vt:vector size="33" baseType="lpstr">
      <vt:lpstr>Arial</vt:lpstr>
      <vt:lpstr>Calibri</vt:lpstr>
      <vt:lpstr>Consolas</vt:lpstr>
      <vt:lpstr>DM Sans</vt:lpstr>
      <vt:lpstr>Noto Sans Symbols</vt:lpstr>
      <vt:lpstr>Personalizar design</vt:lpstr>
      <vt:lpstr>Apresentação do PowerPoint</vt:lpstr>
      <vt:lpstr>Pseudo-classes e Pseudo-elementos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Para Praticar!</vt:lpstr>
      <vt:lpstr>Apresentação do PowerPoint</vt:lpstr>
      <vt:lpstr>Apresentação do PowerPoint</vt:lpstr>
      <vt:lpstr>Apresentação do PowerPoint</vt:lpstr>
      <vt:lpstr>Para Praticar!</vt:lpstr>
      <vt:lpstr>Apresentação do PowerPoint</vt:lpstr>
      <vt:lpstr>Apresentação do PowerPoint</vt:lpstr>
      <vt:lpstr>Apresentação do PowerPoint</vt:lpstr>
      <vt:lpstr>Apresentação do PowerPoint</vt:lpstr>
      <vt:lpstr>Para Praticar!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Para Praticar!</vt:lpstr>
      <vt:lpstr>Referências:</vt:lpstr>
      <vt:lpstr>Copyright © 2026 Prof. Lucas Sousa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Allen Fernando Oberleitner Lima</dc:creator>
  <cp:lastModifiedBy>Cyntia Sayuri</cp:lastModifiedBy>
  <cp:revision>5</cp:revision>
  <dcterms:created xsi:type="dcterms:W3CDTF">2024-03-15T13:51:00Z</dcterms:created>
  <dcterms:modified xsi:type="dcterms:W3CDTF">2026-04-16T18:16:50Z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B96E02AB6EE14174B6F4E9A4A472FBCF_12</vt:lpwstr>
  </property>
  <property fmtid="{D5CDD505-2E9C-101B-9397-08002B2CF9AE}" pid="3" name="KSOProductBuildVer">
    <vt:lpwstr>1046-12.2.0.16731</vt:lpwstr>
  </property>
</Properties>
</file>