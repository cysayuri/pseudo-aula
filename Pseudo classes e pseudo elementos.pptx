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85" r:id="rId5"/>
    <p:sldId id="284" r:id="rId6"/>
    <p:sldId id="286" r:id="rId7"/>
    <p:sldId id="287" r:id="rId8"/>
    <p:sldId id="288" r:id="rId9"/>
    <p:sldId id="265" r:id="rId10"/>
    <p:sldId id="289" r:id="rId11"/>
    <p:sldId id="290" r:id="rId12"/>
    <p:sldId id="291" r:id="rId13"/>
    <p:sldId id="269" r:id="rId14"/>
    <p:sldId id="295" r:id="rId15"/>
    <p:sldId id="292" r:id="rId16"/>
    <p:sldId id="293" r:id="rId17"/>
    <p:sldId id="294" r:id="rId18"/>
    <p:sldId id="274" r:id="rId19"/>
    <p:sldId id="296" r:id="rId20"/>
    <p:sldId id="297" r:id="rId21"/>
    <p:sldId id="300" r:id="rId22"/>
    <p:sldId id="301" r:id="rId23"/>
    <p:sldId id="303" r:id="rId24"/>
    <p:sldId id="302" r:id="rId25"/>
    <p:sldId id="281" r:id="rId26"/>
    <p:sldId id="282" r:id="rId27"/>
    <p:sldId id="283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lmyuNyfniZk7EwCREKUJDiL+h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152E9-AFB2-458E-BFAF-78D379E83702}">
  <a:tblStyle styleId="{63B152E9-AFB2-458E-BFAF-78D379E837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" name="Google Shape;3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3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34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CSS/Pseudo-class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eloper.mozilla.org/pt-BR/docs/Web/CSS/Pseudo-elements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  <p:sp>
        <p:nvSpPr>
          <p:cNvPr id="2" name="Google Shape;57;p2">
            <a:extLst>
              <a:ext uri="{FF2B5EF4-FFF2-40B4-BE49-F238E27FC236}">
                <a16:creationId xmlns:a16="http://schemas.microsoft.com/office/drawing/2014/main" id="{6A8E3583-20CD-B2C0-D805-01DF2E7F47F2}"/>
              </a:ext>
            </a:extLst>
          </p:cNvPr>
          <p:cNvSpPr txBox="1">
            <a:spLocks/>
          </p:cNvSpPr>
          <p:nvPr/>
        </p:nvSpPr>
        <p:spPr>
          <a:xfrm>
            <a:off x="838200" y="5776912"/>
            <a:ext cx="1051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D8D8D8"/>
              </a:buClr>
              <a:buSzPts val="4000"/>
            </a:pP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Engenharia de Software</a:t>
            </a:r>
          </a:p>
        </p:txBody>
      </p:sp>
      <p:sp>
        <p:nvSpPr>
          <p:cNvPr id="3" name="Google Shape;58;p2">
            <a:extLst>
              <a:ext uri="{FF2B5EF4-FFF2-40B4-BE49-F238E27FC236}">
                <a16:creationId xmlns:a16="http://schemas.microsoft.com/office/drawing/2014/main" id="{101EB681-1EBE-FFBF-E394-803B6D47A93A}"/>
              </a:ext>
            </a:extLst>
          </p:cNvPr>
          <p:cNvSpPr txBox="1">
            <a:spLocks/>
          </p:cNvSpPr>
          <p:nvPr/>
        </p:nvSpPr>
        <p:spPr>
          <a:xfrm>
            <a:off x="838200" y="6212839"/>
            <a:ext cx="10515600" cy="28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D8D8D8"/>
              </a:buClr>
              <a:buSzPts val="3600"/>
            </a:pP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Front-</a:t>
            </a:r>
            <a:r>
              <a:rPr lang="pt-BR" dirty="0" err="1">
                <a:solidFill>
                  <a:schemeClr val="tx2">
                    <a:lumMod val="90000"/>
                  </a:schemeClr>
                </a:solidFill>
              </a:rPr>
              <a:t>end</a:t>
            </a: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A7199026-5003-32A9-5A4F-BF02DE3DF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128588" y="0"/>
            <a:ext cx="11901487" cy="6858000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None/>
            </a:pPr>
            <a:r>
              <a:rPr lang="pt-BR" dirty="0" err="1">
                <a:solidFill>
                  <a:schemeClr val="tx2">
                    <a:lumMod val="90000"/>
                  </a:schemeClr>
                </a:solidFill>
              </a:rPr>
              <a:t>Pseudo-classes</a:t>
            </a: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 e </a:t>
            </a:r>
            <a:r>
              <a:rPr lang="pt-BR" dirty="0" err="1">
                <a:solidFill>
                  <a:schemeClr val="tx2">
                    <a:lumMod val="90000"/>
                  </a:schemeClr>
                </a:solidFill>
              </a:rPr>
              <a:t>Pseudo-elementos</a:t>
            </a:r>
            <a:endParaRPr dirty="0">
              <a:solidFill>
                <a:schemeClr val="tx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833120" y="1259839"/>
            <a:ext cx="10525760" cy="469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3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3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14325">
              <a:lnSpc>
                <a:spcPct val="150000"/>
              </a:lnSpc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O </a:t>
            </a:r>
            <a:r>
              <a:rPr lang="pt-BR" sz="2400" b="1" dirty="0">
                <a:solidFill>
                  <a:schemeClr val="tx2">
                    <a:lumMod val="90000"/>
                  </a:schemeClr>
                </a:solidFill>
              </a:rPr>
              <a:t>estado 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de seu conteúdo (como :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checked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em alguns elementos do formulário)</a:t>
            </a: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2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histórico 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do navegador (: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 por exemplo)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pt-BR" sz="2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primeira linha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um elemento (::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first-line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 por exemplo)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Inserir </a:t>
            </a:r>
            <a:r>
              <a:rPr lang="pt-BR" sz="2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conteúdo antes ou depois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um elemento (::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e ::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 por exemplo)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BB1D6B9-9954-9853-47A8-09C3FAB71B97}"/>
              </a:ext>
            </a:extLst>
          </p:cNvPr>
          <p:cNvCxnSpPr>
            <a:cxnSpLocks/>
          </p:cNvCxnSpPr>
          <p:nvPr/>
        </p:nvCxnSpPr>
        <p:spPr>
          <a:xfrm>
            <a:off x="718820" y="1285876"/>
            <a:ext cx="0" cy="673553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9937-CBCC-086D-CBC4-8EE501E7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DA4DDDF-EFAC-6398-179B-67D3AC65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9"/>
          <a:stretch>
            <a:fillRect/>
          </a:stretch>
        </p:blipFill>
        <p:spPr>
          <a:xfrm>
            <a:off x="171448" y="-1065769"/>
            <a:ext cx="12192001" cy="787455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A65484B-B282-2584-17B4-DAC9A0642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F5D4C67-BB32-842E-7717-5B8117AE085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</a:t>
            </a:fld>
            <a:endParaRPr lang="pt-BR"/>
          </a:p>
        </p:txBody>
      </p:sp>
      <p:sp>
        <p:nvSpPr>
          <p:cNvPr id="15" name="Google Shape;77;p5">
            <a:extLst>
              <a:ext uri="{FF2B5EF4-FFF2-40B4-BE49-F238E27FC236}">
                <a16:creationId xmlns:a16="http://schemas.microsoft.com/office/drawing/2014/main" id="{50F4CB51-3599-11DD-F86C-D822D0C7BC6B}"/>
              </a:ext>
            </a:extLst>
          </p:cNvPr>
          <p:cNvSpPr txBox="1">
            <a:spLocks/>
          </p:cNvSpPr>
          <p:nvPr/>
        </p:nvSpPr>
        <p:spPr>
          <a:xfrm>
            <a:off x="838200" y="68643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595959"/>
              </a:buClr>
              <a:buSzPts val="4400"/>
            </a:pPr>
            <a:r>
              <a:rPr lang="pt-BR" sz="4300" dirty="0">
                <a:solidFill>
                  <a:schemeClr val="bg1"/>
                </a:solidFill>
              </a:rPr>
              <a:t> O que é uma </a:t>
            </a:r>
            <a:r>
              <a:rPr lang="pt-BR" sz="4300" dirty="0" err="1">
                <a:solidFill>
                  <a:schemeClr val="bg1"/>
                </a:solidFill>
              </a:rPr>
              <a:t>pseudo-classe</a:t>
            </a:r>
            <a:r>
              <a:rPr lang="pt-BR" sz="4300" dirty="0">
                <a:solidFill>
                  <a:schemeClr val="bg1"/>
                </a:solidFill>
              </a:rPr>
              <a:t>? </a:t>
            </a:r>
          </a:p>
        </p:txBody>
      </p:sp>
      <p:sp>
        <p:nvSpPr>
          <p:cNvPr id="16" name="Google Shape;79;p5">
            <a:extLst>
              <a:ext uri="{FF2B5EF4-FFF2-40B4-BE49-F238E27FC236}">
                <a16:creationId xmlns:a16="http://schemas.microsoft.com/office/drawing/2014/main" id="{74DDC5BA-EEF2-C335-E7A1-16C9E1062705}"/>
              </a:ext>
            </a:extLst>
          </p:cNvPr>
          <p:cNvSpPr txBox="1"/>
          <p:nvPr/>
        </p:nvSpPr>
        <p:spPr>
          <a:xfrm>
            <a:off x="1063622" y="2037558"/>
            <a:ext cx="10290178" cy="269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Uma 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pseudo-classe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CSS, identificada pelo símbolo ”:” (dois pontos), aplica estilos a elementos com base em </a:t>
            </a:r>
            <a:r>
              <a:rPr lang="pt-BR" sz="2200" b="1" dirty="0">
                <a:solidFill>
                  <a:srgbClr val="ED145B"/>
                </a:solidFill>
              </a:rPr>
              <a:t>estados específicos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, </a:t>
            </a:r>
            <a:r>
              <a:rPr lang="pt-BR" sz="2200" b="1" dirty="0">
                <a:solidFill>
                  <a:srgbClr val="ED145B"/>
                </a:solidFill>
              </a:rPr>
              <a:t>interações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do usuário ou </a:t>
            </a:r>
            <a:r>
              <a:rPr lang="pt-BR" sz="2200" b="1" dirty="0">
                <a:solidFill>
                  <a:srgbClr val="ED145B"/>
                </a:solidFill>
              </a:rPr>
              <a:t>estruturas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do documento.</a:t>
            </a:r>
          </a:p>
          <a:p>
            <a:pPr lvl="0">
              <a:buSzPts val="1800"/>
            </a:pPr>
            <a:br>
              <a:rPr lang="pt-BR" sz="22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Elas permitem estilizar elementos dinamicamente </a:t>
            </a:r>
            <a:r>
              <a:rPr lang="pt-BR" sz="2200" b="1" dirty="0">
                <a:solidFill>
                  <a:schemeClr val="bg1"/>
                </a:solidFill>
              </a:rPr>
              <a:t>sem alterar o HTML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, reagindo a comportamentos como cliques, foco em campos de formulário ou posições na página.</a:t>
            </a:r>
            <a:endParaRPr lang="pt-BR"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" name="Google Shape;80;p5">
            <a:extLst>
              <a:ext uri="{FF2B5EF4-FFF2-40B4-BE49-F238E27FC236}">
                <a16:creationId xmlns:a16="http://schemas.microsoft.com/office/drawing/2014/main" id="{2FAE28DB-92CC-4779-87AD-28EC307056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657878"/>
              </p:ext>
            </p:extLst>
          </p:nvPr>
        </p:nvGraphicFramePr>
        <p:xfrm>
          <a:off x="3451860" y="4840497"/>
          <a:ext cx="507365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07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9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seletor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pseudoclasse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0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propriedade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0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8658DE1-DDBF-3029-762F-2D90E5E2E4D1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75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236FF9C0-CFD8-611D-BAA3-9992A9596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D6B87C4D-5BA9-F6BF-64C0-96E64D35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D13752E8-BA40-C698-8A53-B62022D56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EE04AA6-6B05-B503-6F51-4A7953DC72A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15081FC-8A22-7741-59B1-F3EF830AE68F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6D6E2986-F11A-7D3D-2524-E067267B0DF5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298FC63D-C8D2-103B-7300-DEDB854EBE02}"/>
              </a:ext>
            </a:extLst>
          </p:cNvPr>
          <p:cNvSpPr txBox="1"/>
          <p:nvPr/>
        </p:nvSpPr>
        <p:spPr>
          <a:xfrm>
            <a:off x="856932" y="1976149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hover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9908FAD0-994D-3593-9464-299C779545E7}"/>
              </a:ext>
            </a:extLst>
          </p:cNvPr>
          <p:cNvSpPr txBox="1"/>
          <p:nvPr/>
        </p:nvSpPr>
        <p:spPr>
          <a:xfrm>
            <a:off x="896302" y="3362124"/>
            <a:ext cx="10297795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0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estilizar quando </a:t>
            </a:r>
            <a:r>
              <a:rPr lang="pt-BR" sz="20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passamos o mouse</a:t>
            </a:r>
            <a:r>
              <a:rPr lang="pt-BR" sz="20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em cima do elemento.</a:t>
            </a: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" name="Google Shape;89;p6">
            <a:extLst>
              <a:ext uri="{FF2B5EF4-FFF2-40B4-BE49-F238E27FC236}">
                <a16:creationId xmlns:a16="http://schemas.microsoft.com/office/drawing/2014/main" id="{03431B1A-1121-C1A8-8383-C396F3FD1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116798"/>
              </p:ext>
            </p:extLst>
          </p:nvPr>
        </p:nvGraphicFramePr>
        <p:xfrm>
          <a:off x="3698562" y="4275250"/>
          <a:ext cx="4794875" cy="149035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9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8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hover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92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E3267-9102-B572-1795-47201C2E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C6932C-DA5E-DD29-E95C-A3AE5912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E60B258-6A69-572C-98E1-687CD31A62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15FF637-6009-D14C-D29B-54831D25A80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6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173867A-C8A8-4F97-6B6C-B72A1BE339D4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F57AB647-AD47-F360-1633-A879968F3224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FFF86D05-16FE-0A80-EDF8-24BF4146625C}"/>
              </a:ext>
            </a:extLst>
          </p:cNvPr>
          <p:cNvSpPr txBox="1"/>
          <p:nvPr/>
        </p:nvSpPr>
        <p:spPr>
          <a:xfrm>
            <a:off x="817562" y="1719810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E2F125E2-EFE3-AAFA-019F-F49B107EB543}"/>
              </a:ext>
            </a:extLst>
          </p:cNvPr>
          <p:cNvSpPr txBox="1"/>
          <p:nvPr/>
        </p:nvSpPr>
        <p:spPr>
          <a:xfrm>
            <a:off x="711200" y="3105785"/>
            <a:ext cx="10642600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buClr>
                <a:schemeClr val="dk1"/>
              </a:buClr>
              <a:buSzPts val="1800"/>
            </a:pP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Usada para estilizar um elemento no momento em que o </a:t>
            </a:r>
            <a:r>
              <a:rPr lang="pt-BR" sz="2000" b="1" dirty="0">
                <a:solidFill>
                  <a:srgbClr val="ED145B"/>
                </a:solidFill>
              </a:rPr>
              <a:t>usuário o torna “ativo”</a:t>
            </a: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. Por exemplo, quando clicamos em um link e não soltamos o botão do mouse. Nesse momento, estamos ativando a ação do elemento. Esse estado é ativado também quando navegamos entre os links pelo teclado utilizando o TAB.</a:t>
            </a:r>
            <a:endParaRPr lang="pt-BR" sz="2000" dirty="0">
              <a:solidFill>
                <a:schemeClr val="tx2">
                  <a:lumMod val="90000"/>
                </a:schemeClr>
              </a:solidFill>
              <a:highlight>
                <a:srgbClr val="FFFF00"/>
              </a:highligh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2B2280-108A-EF6F-7919-4C7E39CA0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graphicFrame>
        <p:nvGraphicFramePr>
          <p:cNvPr id="12" name="Google Shape;98;p7">
            <a:extLst>
              <a:ext uri="{FF2B5EF4-FFF2-40B4-BE49-F238E27FC236}">
                <a16:creationId xmlns:a16="http://schemas.microsoft.com/office/drawing/2014/main" id="{B17C30E2-89B8-CA3B-781A-7E5CC50526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4331182"/>
              </p:ext>
            </p:extLst>
          </p:nvPr>
        </p:nvGraphicFramePr>
        <p:xfrm>
          <a:off x="3433125" y="4860827"/>
          <a:ext cx="5325750" cy="140716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32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8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active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blue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52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7E16-0F82-41AC-BC45-6E7EAC23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31371AC-D792-71EF-3012-29CF463B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194DF75-7069-7F56-D5DA-E0A37EFDB9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CB12FA8-3F6F-3298-F003-9C1C158B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4291575-0ACE-EC38-B2CD-8BCAAABC6DB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7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35762B6-7332-563B-8C8F-4D63E2CBC686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14BA8D56-C7AC-318B-85BF-D5844501C1DB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672A9BB6-AC8A-F87C-9CF3-4C8C5D58D2A2}"/>
              </a:ext>
            </a:extLst>
          </p:cNvPr>
          <p:cNvSpPr txBox="1"/>
          <p:nvPr/>
        </p:nvSpPr>
        <p:spPr>
          <a:xfrm>
            <a:off x="856932" y="1976149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C2D0C230-8DB4-2285-22F8-0FC95C73DB7D}"/>
              </a:ext>
            </a:extLst>
          </p:cNvPr>
          <p:cNvSpPr txBox="1"/>
          <p:nvPr/>
        </p:nvSpPr>
        <p:spPr>
          <a:xfrm>
            <a:off x="896302" y="3362124"/>
            <a:ext cx="10297795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ctr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Usada para estilizar um </a:t>
            </a:r>
            <a:r>
              <a:rPr lang="pt-BR" sz="2000" b="1" dirty="0">
                <a:solidFill>
                  <a:srgbClr val="ED145B"/>
                </a:solidFill>
              </a:rPr>
              <a:t>link que já foi visitado</a:t>
            </a: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.</a:t>
            </a: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" name="Google Shape;107;p8">
            <a:extLst>
              <a:ext uri="{FF2B5EF4-FFF2-40B4-BE49-F238E27FC236}">
                <a16:creationId xmlns:a16="http://schemas.microsoft.com/office/drawing/2014/main" id="{0990F608-CEE8-27DD-1663-A0E65FAD0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806198"/>
              </p:ext>
            </p:extLst>
          </p:nvPr>
        </p:nvGraphicFramePr>
        <p:xfrm>
          <a:off x="3667436" y="4377675"/>
          <a:ext cx="4755525" cy="149732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5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8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visited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705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A6DD-B474-95E1-7D0B-40B37BE4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57F025C-A705-9974-BBCE-FE7FCF7A0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E4AE663-7D8B-2E1C-0123-82C822C01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0EF2302-2D39-D614-B8B8-842108D2B7E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8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F085A8D-C4DA-CBFE-4E0B-F638BDE95DF7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8E7BA5EB-2831-B883-EED3-34CCC182528F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27BF5A9C-80AE-615C-3609-D79747CB7EAC}"/>
              </a:ext>
            </a:extLst>
          </p:cNvPr>
          <p:cNvSpPr txBox="1"/>
          <p:nvPr/>
        </p:nvSpPr>
        <p:spPr>
          <a:xfrm>
            <a:off x="817562" y="1719810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EF2C227D-9122-3889-8F98-FF8EE899870B}"/>
              </a:ext>
            </a:extLst>
          </p:cNvPr>
          <p:cNvSpPr txBox="1"/>
          <p:nvPr/>
        </p:nvSpPr>
        <p:spPr>
          <a:xfrm>
            <a:off x="711200" y="3105785"/>
            <a:ext cx="10642600" cy="9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buClr>
                <a:schemeClr val="dk1"/>
              </a:buClr>
              <a:buSzPts val="1800"/>
            </a:pP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Usada para estilizar um elemento quando ele </a:t>
            </a:r>
            <a:r>
              <a:rPr lang="pt-BR" sz="2000" b="1" dirty="0">
                <a:solidFill>
                  <a:srgbClr val="ED145B"/>
                </a:solidFill>
              </a:rPr>
              <a:t>recebe foco</a:t>
            </a: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. Muito comum em campos de texto. No momento em que clicamos sobre a caixa de texto para escrever ela está ganhando foco.</a:t>
            </a: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54683C-024A-159D-3D36-0BFC4C6B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graphicFrame>
        <p:nvGraphicFramePr>
          <p:cNvPr id="6" name="Google Shape;116;p9">
            <a:extLst>
              <a:ext uri="{FF2B5EF4-FFF2-40B4-BE49-F238E27FC236}">
                <a16:creationId xmlns:a16="http://schemas.microsoft.com/office/drawing/2014/main" id="{682B7F37-7B8B-2701-A52E-902F77B64F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9403313"/>
              </p:ext>
            </p:extLst>
          </p:nvPr>
        </p:nvGraphicFramePr>
        <p:xfrm>
          <a:off x="2844804" y="4495841"/>
          <a:ext cx="6322050" cy="151637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632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6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8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focus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sz="2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background-color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yellow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553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>
            <a:spLocks noGrp="1"/>
          </p:cNvSpPr>
          <p:nvPr>
            <p:ph type="title"/>
          </p:nvPr>
        </p:nvSpPr>
        <p:spPr>
          <a:xfrm>
            <a:off x="838200" y="38798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Para Praticar!</a:t>
            </a:r>
            <a:endParaRPr/>
          </a:p>
        </p:txBody>
      </p:sp>
      <p:sp>
        <p:nvSpPr>
          <p:cNvPr id="123" name="Google Shape;123;p10"/>
          <p:cNvSpPr txBox="1"/>
          <p:nvPr/>
        </p:nvSpPr>
        <p:spPr>
          <a:xfrm>
            <a:off x="911860" y="1628775"/>
            <a:ext cx="9499600" cy="454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da atividade. 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Instruções: Crie alguns elementos usando as tags HTML e insira nesses elementos as pseudo-classes que aprendemos: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Hover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CF933-984F-C354-820A-2395D740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48A15A2-90B8-0D3A-6AA1-F15BEDFC55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E2738F2-39B9-F4B6-BB37-7A600538693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10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D34A8C-1606-8DAB-EC13-C5C5D779A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6EEA2D4-21E2-6C37-80B9-ED79C003DF4E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3E2C7A9D-27FD-5960-C404-8C320F368F8E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estruturais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 elemento da estrutura do código.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3A771CCF-00B2-73C2-4249-212936ED856D}"/>
              </a:ext>
            </a:extLst>
          </p:cNvPr>
          <p:cNvSpPr txBox="1"/>
          <p:nvPr/>
        </p:nvSpPr>
        <p:spPr>
          <a:xfrm>
            <a:off x="856932" y="1901055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dirty="0" err="1">
                <a:solidFill>
                  <a:schemeClr val="tx2">
                    <a:lumMod val="90000"/>
                  </a:schemeClr>
                </a:solidFill>
              </a:rPr>
              <a:t>first-child</a:t>
            </a:r>
            <a:r>
              <a:rPr lang="pt-BR" sz="4400" b="1" dirty="0">
                <a:solidFill>
                  <a:schemeClr val="tx2">
                    <a:lumMod val="90000"/>
                  </a:schemeClr>
                </a:solidFill>
              </a:rPr>
              <a:t> e :</a:t>
            </a:r>
            <a:r>
              <a:rPr lang="pt-BR" sz="4400" b="1" dirty="0" err="1">
                <a:solidFill>
                  <a:schemeClr val="tx2">
                    <a:lumMod val="90000"/>
                  </a:schemeClr>
                </a:solidFill>
              </a:rPr>
              <a:t>last-child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31;p11">
            <a:extLst>
              <a:ext uri="{FF2B5EF4-FFF2-40B4-BE49-F238E27FC236}">
                <a16:creationId xmlns:a16="http://schemas.microsoft.com/office/drawing/2014/main" id="{DE332816-77A3-4979-0FD4-26686FE5A14E}"/>
              </a:ext>
            </a:extLst>
          </p:cNvPr>
          <p:cNvSpPr txBox="1"/>
          <p:nvPr/>
        </p:nvSpPr>
        <p:spPr>
          <a:xfrm>
            <a:off x="736397" y="3247936"/>
            <a:ext cx="10719205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estilizar 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primeiro filho (</a:t>
            </a:r>
            <a:r>
              <a:rPr lang="pt-BR" sz="2400" b="1" i="0" u="none" strike="noStrike" cap="none" dirty="0" err="1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first-child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ou 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último filho (</a:t>
            </a:r>
            <a:r>
              <a:rPr lang="pt-BR" sz="2400" b="1" i="0" u="none" strike="noStrike" cap="none" dirty="0" err="1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last-child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dentro de uma sequência do mesmo elemento.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Google Shape;132;p11">
            <a:extLst>
              <a:ext uri="{FF2B5EF4-FFF2-40B4-BE49-F238E27FC236}">
                <a16:creationId xmlns:a16="http://schemas.microsoft.com/office/drawing/2014/main" id="{9FB6166D-37B3-0DA7-3A1B-40E823F77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692989"/>
              </p:ext>
            </p:extLst>
          </p:nvPr>
        </p:nvGraphicFramePr>
        <p:xfrm>
          <a:off x="6623111" y="4727073"/>
          <a:ext cx="3380100" cy="1224281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38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428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last-child</a:t>
                      </a: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i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i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i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i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oogle Shape;132;p11">
            <a:extLst>
              <a:ext uri="{FF2B5EF4-FFF2-40B4-BE49-F238E27FC236}">
                <a16:creationId xmlns:a16="http://schemas.microsoft.com/office/drawing/2014/main" id="{B5319B39-64AA-CFED-AB11-7F6A51A35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257197"/>
              </p:ext>
            </p:extLst>
          </p:nvPr>
        </p:nvGraphicFramePr>
        <p:xfrm>
          <a:off x="1902630" y="4730816"/>
          <a:ext cx="33801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38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76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first-child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i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59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74F97-BA41-5EFF-5004-28CF4248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1F148FE-360C-B24E-97A0-6EC47F508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F06AD41-DEA4-606B-EF83-11A432FE6ED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60DC4A-333B-42D7-8D2A-61F8D6656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E810E30-90E1-5B35-B456-42C49C7D43CB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5E57289C-2EAD-3627-7A7E-FD7C7D456CED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estruturais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 elemento da estrutura do código.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61A30026-925D-E87D-1119-17AEC6072984}"/>
              </a:ext>
            </a:extLst>
          </p:cNvPr>
          <p:cNvSpPr txBox="1"/>
          <p:nvPr/>
        </p:nvSpPr>
        <p:spPr>
          <a:xfrm>
            <a:off x="856932" y="1650684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nth-child</a:t>
            </a: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8B6C823B-E667-2EF1-837D-1CF96CD47C4B}"/>
              </a:ext>
            </a:extLst>
          </p:cNvPr>
          <p:cNvSpPr txBox="1"/>
          <p:nvPr/>
        </p:nvSpPr>
        <p:spPr>
          <a:xfrm>
            <a:off x="896302" y="3036658"/>
            <a:ext cx="10297795" cy="1015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buClr>
                <a:schemeClr val="dk1"/>
              </a:buClr>
              <a:buSzPts val="1800"/>
            </a:pP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Permite a seleção de </a:t>
            </a:r>
            <a:r>
              <a:rPr lang="pt-BR" sz="2200" b="1" dirty="0">
                <a:solidFill>
                  <a:srgbClr val="ED145B"/>
                </a:solidFill>
              </a:rPr>
              <a:t>qualquer elemento no meio de um grupo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de elementos. Por exemplo, você pode selecionar linhas de uma tabela. Assim, podemos fazer uma tabela zebrada sem a ajuda de 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javascript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141;p12">
            <a:extLst>
              <a:ext uri="{FF2B5EF4-FFF2-40B4-BE49-F238E27FC236}">
                <a16:creationId xmlns:a16="http://schemas.microsoft.com/office/drawing/2014/main" id="{B904D4B9-C9FE-FE5A-1E5A-0A10703F9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5377309"/>
              </p:ext>
            </p:extLst>
          </p:nvPr>
        </p:nvGraphicFramePr>
        <p:xfrm>
          <a:off x="1919513" y="4637742"/>
          <a:ext cx="4419600" cy="135382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nth-child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2n+1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green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88;p6">
            <a:extLst>
              <a:ext uri="{FF2B5EF4-FFF2-40B4-BE49-F238E27FC236}">
                <a16:creationId xmlns:a16="http://schemas.microsoft.com/office/drawing/2014/main" id="{93536554-A14C-40B5-16C3-A1F79DF88CE3}"/>
              </a:ext>
            </a:extLst>
          </p:cNvPr>
          <p:cNvSpPr txBox="1"/>
          <p:nvPr/>
        </p:nvSpPr>
        <p:spPr>
          <a:xfrm>
            <a:off x="6555013" y="4634501"/>
            <a:ext cx="3822701" cy="135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pt-BR" sz="18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é o intervalo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>
                <a:solidFill>
                  <a:srgbClr val="ED145B"/>
                </a:solidFill>
              </a:rPr>
              <a:t>N</a:t>
            </a:r>
            <a:r>
              <a:rPr lang="pt-BR" sz="1800" dirty="0">
                <a:solidFill>
                  <a:schemeClr val="tx2">
                    <a:lumMod val="90000"/>
                  </a:schemeClr>
                </a:solidFill>
              </a:rPr>
              <a:t> é o contador (inicia em 0)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pt-BR" sz="18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é o de</a:t>
            </a:r>
            <a:r>
              <a:rPr lang="pt-BR" sz="1800" dirty="0">
                <a:solidFill>
                  <a:schemeClr val="tx2">
                    <a:lumMod val="90000"/>
                  </a:schemeClr>
                </a:solidFill>
              </a:rPr>
              <a:t>slocamento inicial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lang="pt-BR" sz="18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 início em 1 + 2 =&gt; 1, 3, 5, 7</a:t>
            </a:r>
            <a:endParaRPr sz="18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603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0027-6FF5-4AB8-1805-FDE2BCDE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04EFED8-2372-DF52-9DC3-73805C0248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80A9F55-979B-903F-4D6B-5537715FA9F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12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6A4ABAA-E76D-CB8C-226A-BFCA6641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3D73A02-589D-D2AB-A85B-801D53882A14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47D751AD-13B5-2FE7-CF4B-8D9B6067E16E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estruturais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 elemento da estrutura do código.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6014C850-4495-60A7-BB25-DD3194EB1365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4E7D7E80-61DE-264B-949A-B933CE7F1017}"/>
              </a:ext>
            </a:extLst>
          </p:cNvPr>
          <p:cNvSpPr txBox="1"/>
          <p:nvPr/>
        </p:nvSpPr>
        <p:spPr>
          <a:xfrm>
            <a:off x="783272" y="3161030"/>
            <a:ext cx="10625455" cy="143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Também conhecida como 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pseudo-classe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negação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Ela aceita um argumento — basicamente um outro "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selector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" — escrito entre sinais de parênteses. O argumento poderá ser, também, uma 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pseudo-classe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Google Shape;150;p13">
            <a:extLst>
              <a:ext uri="{FF2B5EF4-FFF2-40B4-BE49-F238E27FC236}">
                <a16:creationId xmlns:a16="http://schemas.microsoft.com/office/drawing/2014/main" id="{58680DB1-A98F-F9F9-19D5-B1686F8995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728866"/>
              </p:ext>
            </p:extLst>
          </p:nvPr>
        </p:nvGraphicFramePr>
        <p:xfrm>
          <a:off x="3708400" y="4798575"/>
          <a:ext cx="4775200" cy="135510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7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.meu-item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/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2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>
            <a:spLocks noGrp="1"/>
          </p:cNvSpPr>
          <p:nvPr>
            <p:ph type="title"/>
          </p:nvPr>
        </p:nvSpPr>
        <p:spPr>
          <a:xfrm>
            <a:off x="838200" y="38798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Para Praticar!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911860" y="1628775"/>
            <a:ext cx="9499600" cy="454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da atividade. 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Instruções: Crie alguns elementos usando as tags HTML e insira nesses elementos as pseudo-classes que aprendemos: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first-child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last-child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nth-child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FC8F-C945-7EBC-404A-A0783421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C94932D-94C1-B90B-125A-603232B12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7AA5CDB-6C4D-E5F5-094C-8C0488A6A8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10C7C4B-6F44-4A78-9FD1-7153562429C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14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EA51B20-275B-B8C7-0904-FC9692B9D388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AA9325CC-1247-3A4A-C598-8E7AB01AAFAD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D3A7D474-4A4E-854D-9B55-E79695ED2DE9}"/>
              </a:ext>
            </a:extLst>
          </p:cNvPr>
          <p:cNvSpPr txBox="1"/>
          <p:nvPr/>
        </p:nvSpPr>
        <p:spPr>
          <a:xfrm>
            <a:off x="844613" y="2044406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1B7AD4-4F61-0CE0-8DE8-634EF19E9C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7" name="Google Shape;193;p18">
            <a:extLst>
              <a:ext uri="{FF2B5EF4-FFF2-40B4-BE49-F238E27FC236}">
                <a16:creationId xmlns:a16="http://schemas.microsoft.com/office/drawing/2014/main" id="{B584133F-20D6-8EC5-CB3D-50BB4C9708CF}"/>
              </a:ext>
            </a:extLst>
          </p:cNvPr>
          <p:cNvSpPr txBox="1"/>
          <p:nvPr/>
        </p:nvSpPr>
        <p:spPr>
          <a:xfrm>
            <a:off x="772043" y="3352077"/>
            <a:ext cx="10107295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selecionar qualquer elemento de formulário cujo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preenchimento é obrigatório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194;p18">
            <a:extLst>
              <a:ext uri="{FF2B5EF4-FFF2-40B4-BE49-F238E27FC236}">
                <a16:creationId xmlns:a16="http://schemas.microsoft.com/office/drawing/2014/main" id="{8A8D37BD-F20A-8697-3BA4-83BEDA66C0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303248"/>
              </p:ext>
            </p:extLst>
          </p:nvPr>
        </p:nvGraphicFramePr>
        <p:xfrm>
          <a:off x="4255350" y="4725297"/>
          <a:ext cx="36813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required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246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662B3-A25A-8852-2E1C-2846C423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14D14AA-524C-229C-10DF-BE47034FA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6729445-045A-AB66-7AD6-6BBF6FDB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99A557D-9827-3A76-F2F7-05A7B5770D2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15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9FE661F-963A-5E43-DC39-C5482541BB39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CA6575DD-4685-82F9-8411-D110C10BD20E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A556ECE8-909A-6845-73FF-D082ADA8F21E}"/>
              </a:ext>
            </a:extLst>
          </p:cNvPr>
          <p:cNvSpPr txBox="1"/>
          <p:nvPr/>
        </p:nvSpPr>
        <p:spPr>
          <a:xfrm>
            <a:off x="817562" y="1650684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checked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A67972DC-BB25-79AE-7668-A318E01CB7DE}"/>
              </a:ext>
            </a:extLst>
          </p:cNvPr>
          <p:cNvSpPr txBox="1"/>
          <p:nvPr/>
        </p:nvSpPr>
        <p:spPr>
          <a:xfrm>
            <a:off x="711200" y="2932845"/>
            <a:ext cx="10642600" cy="9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buClr>
                <a:schemeClr val="dk1"/>
              </a:buClr>
              <a:buSzPts val="1800"/>
            </a:pP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Usada para selecionar um elemento &lt;radio&gt;, &lt;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checkbox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&gt; ou &lt;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option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&gt; que esteja </a:t>
            </a:r>
            <a:r>
              <a:rPr lang="pt-BR" sz="2200" b="1" dirty="0">
                <a:solidFill>
                  <a:srgbClr val="ED145B"/>
                </a:solidFill>
              </a:rPr>
              <a:t>marcado ou com estado ativado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.</a:t>
            </a: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507CD4-FDEC-539B-57A9-5E93831D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graphicFrame>
        <p:nvGraphicFramePr>
          <p:cNvPr id="7" name="Google Shape;166;p15">
            <a:extLst>
              <a:ext uri="{FF2B5EF4-FFF2-40B4-BE49-F238E27FC236}">
                <a16:creationId xmlns:a16="http://schemas.microsoft.com/office/drawing/2014/main" id="{18C3A40A-B383-453E-BBF1-D9A8DD90F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862880"/>
              </p:ext>
            </p:extLst>
          </p:nvPr>
        </p:nvGraphicFramePr>
        <p:xfrm>
          <a:off x="945514" y="4049081"/>
          <a:ext cx="5078725" cy="2576711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07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67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margin-left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radio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0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margin-left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oogle Shape;167;p15">
            <a:extLst>
              <a:ext uri="{FF2B5EF4-FFF2-40B4-BE49-F238E27FC236}">
                <a16:creationId xmlns:a16="http://schemas.microsoft.com/office/drawing/2014/main" id="{27B9ACA2-9598-A228-54A1-D92597D44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5498930"/>
              </p:ext>
            </p:extLst>
          </p:nvPr>
        </p:nvGraphicFramePr>
        <p:xfrm>
          <a:off x="6408086" y="4049081"/>
          <a:ext cx="4838075" cy="2575878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83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7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checkbox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0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margin-left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option</a:t>
                      </a:r>
                      <a:r>
                        <a:rPr lang="pt-BR" sz="200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556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2020-3F08-AEFD-89FB-BE9E5D9A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A7CC49E-0C04-42D4-41CE-C117552A1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843628A-20EB-3B34-6440-594556733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0E134FF-D87E-ADD1-0546-637EEF85F8A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16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E9D0D02-ABDD-0585-CEF1-0D57CF39FB52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1A0D23B1-9204-B3D5-DDEA-3EA8B1F5B9C4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85D393B0-F8A4-F515-E093-F410E87DCCC6}"/>
              </a:ext>
            </a:extLst>
          </p:cNvPr>
          <p:cNvSpPr txBox="1"/>
          <p:nvPr/>
        </p:nvSpPr>
        <p:spPr>
          <a:xfrm>
            <a:off x="817562" y="1812123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disabled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370517-B813-281B-749A-A9AD6918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6" name="Google Shape;175;p16">
            <a:extLst>
              <a:ext uri="{FF2B5EF4-FFF2-40B4-BE49-F238E27FC236}">
                <a16:creationId xmlns:a16="http://schemas.microsoft.com/office/drawing/2014/main" id="{D6D1A510-444A-9AED-C6C9-33B629E16E24}"/>
              </a:ext>
            </a:extLst>
          </p:cNvPr>
          <p:cNvSpPr txBox="1"/>
          <p:nvPr/>
        </p:nvSpPr>
        <p:spPr>
          <a:xfrm>
            <a:off x="756920" y="3122160"/>
            <a:ext cx="10596880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2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selecionar qualquer elemento </a:t>
            </a:r>
            <a:r>
              <a:rPr lang="pt-BR" sz="22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desativado</a:t>
            </a:r>
            <a:r>
              <a:rPr lang="pt-BR" sz="22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Um elemento é desativado se não puder ser ativado (selecionado, clicado, digitado etc.) ou aceitar o foco.</a:t>
            </a: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Google Shape;176;p16">
            <a:extLst>
              <a:ext uri="{FF2B5EF4-FFF2-40B4-BE49-F238E27FC236}">
                <a16:creationId xmlns:a16="http://schemas.microsoft.com/office/drawing/2014/main" id="{ABF8E9AA-E898-9895-FA22-45BA473628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5938747"/>
              </p:ext>
            </p:extLst>
          </p:nvPr>
        </p:nvGraphicFramePr>
        <p:xfrm>
          <a:off x="945514" y="4446486"/>
          <a:ext cx="4710326" cy="1573467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1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551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disabled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#ccc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oogle Shape;176;p16">
            <a:extLst>
              <a:ext uri="{FF2B5EF4-FFF2-40B4-BE49-F238E27FC236}">
                <a16:creationId xmlns:a16="http://schemas.microsoft.com/office/drawing/2014/main" id="{E7654B2D-C3F2-3FD6-F81B-67750115E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484079"/>
              </p:ext>
            </p:extLst>
          </p:nvPr>
        </p:nvGraphicFramePr>
        <p:xfrm>
          <a:off x="6081486" y="4423381"/>
          <a:ext cx="5053324" cy="1596572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053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65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</a:t>
                      </a:r>
                      <a:r>
                        <a:rPr lang="pt-BR" sz="24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4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disabled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#ccc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497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7437-F1E4-7252-0339-EE8F510D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774B988-3489-556D-9F5F-BAF1FFB89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46CC1A8-21B9-EA08-1000-8C55E6F29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7B73AAC-3813-A97F-72A2-257F79877D2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17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52B782D-6CF0-F704-82D7-6CEFA5F6C31D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1DBC5511-8B49-AB43-7A2D-36577CBBA6F3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A9F4094A-0F25-9AAA-6905-B81214298F6F}"/>
              </a:ext>
            </a:extLst>
          </p:cNvPr>
          <p:cNvSpPr txBox="1"/>
          <p:nvPr/>
        </p:nvSpPr>
        <p:spPr>
          <a:xfrm>
            <a:off x="844613" y="1871741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e 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invalid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B5049D-7FDC-E21F-C0B4-19B749DE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6" name="Google Shape;184;p17">
            <a:extLst>
              <a:ext uri="{FF2B5EF4-FFF2-40B4-BE49-F238E27FC236}">
                <a16:creationId xmlns:a16="http://schemas.microsoft.com/office/drawing/2014/main" id="{953D4B6B-6CD5-08BF-43E1-5CF9ACC818AF}"/>
              </a:ext>
            </a:extLst>
          </p:cNvPr>
          <p:cNvSpPr txBox="1"/>
          <p:nvPr/>
        </p:nvSpPr>
        <p:spPr>
          <a:xfrm>
            <a:off x="772043" y="3148724"/>
            <a:ext cx="10317248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selecionar campos de formulário cujos dados de entrada estejam de acordo, ou não, com 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formato requerido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para o campo.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Google Shape;185;p17">
            <a:extLst>
              <a:ext uri="{FF2B5EF4-FFF2-40B4-BE49-F238E27FC236}">
                <a16:creationId xmlns:a16="http://schemas.microsoft.com/office/drawing/2014/main" id="{6C334A79-074F-A3BB-F9F9-D2970F71D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1645749"/>
              </p:ext>
            </p:extLst>
          </p:nvPr>
        </p:nvGraphicFramePr>
        <p:xfrm>
          <a:off x="1191017" y="4537792"/>
          <a:ext cx="473965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34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b="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invalid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oogle Shape;185;p17">
            <a:extLst>
              <a:ext uri="{FF2B5EF4-FFF2-40B4-BE49-F238E27FC236}">
                <a16:creationId xmlns:a16="http://schemas.microsoft.com/office/drawing/2014/main" id="{87F4A10E-9697-A7F0-279F-CD5017947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774418"/>
              </p:ext>
            </p:extLst>
          </p:nvPr>
        </p:nvGraphicFramePr>
        <p:xfrm>
          <a:off x="6395160" y="4537792"/>
          <a:ext cx="473965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34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b="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green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607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838200" y="38798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Para Praticar!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11860" y="1557020"/>
            <a:ext cx="10365740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da atividade.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Instruções: Crie alguns elementos usando as </a:t>
            </a:r>
            <a:r>
              <a:rPr lang="pt-BR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</a:t>
            </a:r>
            <a:r>
              <a:rPr lang="pt-BR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HTML e insira nesses elementos as </a:t>
            </a:r>
            <a:r>
              <a:rPr lang="pt-BR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pseudo-classes</a:t>
            </a:r>
            <a:r>
              <a:rPr lang="pt-BR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aprendemos: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4325">
              <a:buSzPts val="1350"/>
              <a:buFont typeface="DM Sans"/>
              <a:buChar char="✓"/>
            </a:pPr>
            <a:r>
              <a:rPr lang="pt-BR" sz="2800" dirty="0" err="1"/>
              <a:t>required</a:t>
            </a:r>
            <a:endParaRPr lang="pt-BR" sz="2800" dirty="0"/>
          </a:p>
          <a:p>
            <a:pPr marL="457200" lvl="0" indent="-314325">
              <a:buSzPts val="1350"/>
              <a:buFont typeface="DM Sans"/>
              <a:buChar char="✓"/>
            </a:pPr>
            <a:r>
              <a:rPr lang="pt-BR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checked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disabled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0690-FA4A-3B4D-342E-D7EA7028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8B1DAFB-4E70-49ED-6564-6579D0B1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9"/>
          <a:stretch>
            <a:fillRect/>
          </a:stretch>
        </p:blipFill>
        <p:spPr>
          <a:xfrm>
            <a:off x="171448" y="-1065769"/>
            <a:ext cx="12192001" cy="787455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6C5E86D-108D-75F1-26EB-B08A8E055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B95F204-5E6D-71B6-E225-CB8592FC74D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19</a:t>
            </a:fld>
            <a:endParaRPr lang="pt-BR"/>
          </a:p>
        </p:txBody>
      </p:sp>
      <p:sp>
        <p:nvSpPr>
          <p:cNvPr id="15" name="Google Shape;77;p5">
            <a:extLst>
              <a:ext uri="{FF2B5EF4-FFF2-40B4-BE49-F238E27FC236}">
                <a16:creationId xmlns:a16="http://schemas.microsoft.com/office/drawing/2014/main" id="{CB3278F5-FF18-AAA9-C26B-06093CBBFD0D}"/>
              </a:ext>
            </a:extLst>
          </p:cNvPr>
          <p:cNvSpPr txBox="1">
            <a:spLocks/>
          </p:cNvSpPr>
          <p:nvPr/>
        </p:nvSpPr>
        <p:spPr>
          <a:xfrm>
            <a:off x="838200" y="68643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595959"/>
              </a:buClr>
              <a:buSzPts val="4400"/>
            </a:pPr>
            <a:r>
              <a:rPr lang="pt-BR" sz="4300" dirty="0">
                <a:solidFill>
                  <a:schemeClr val="bg1"/>
                </a:solidFill>
              </a:rPr>
              <a:t> O que é um </a:t>
            </a: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r>
              <a:rPr lang="pt-BR" sz="4300" dirty="0">
                <a:solidFill>
                  <a:schemeClr val="bg1"/>
                </a:solidFill>
              </a:rPr>
              <a:t>? </a:t>
            </a:r>
          </a:p>
        </p:txBody>
      </p:sp>
      <p:sp>
        <p:nvSpPr>
          <p:cNvPr id="16" name="Google Shape;79;p5">
            <a:extLst>
              <a:ext uri="{FF2B5EF4-FFF2-40B4-BE49-F238E27FC236}">
                <a16:creationId xmlns:a16="http://schemas.microsoft.com/office/drawing/2014/main" id="{638B8E01-1C6B-6D64-82F3-EE8F094B5F70}"/>
              </a:ext>
            </a:extLst>
          </p:cNvPr>
          <p:cNvSpPr txBox="1"/>
          <p:nvPr/>
        </p:nvSpPr>
        <p:spPr>
          <a:xfrm>
            <a:off x="1063622" y="2037558"/>
            <a:ext cx="10290178" cy="269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Um 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pseudo-elemento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CSS é uma palavra-chave adicionada a um seletor que permite que você </a:t>
            </a:r>
            <a:r>
              <a:rPr lang="pt-BR" sz="2400" b="1" dirty="0">
                <a:solidFill>
                  <a:srgbClr val="ED145B"/>
                </a:solidFill>
              </a:rPr>
              <a:t>selecione uma parte específica do elemento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e é identificado por “::” (2 dois pontos).</a:t>
            </a:r>
            <a:endParaRPr lang="pt-BR" sz="2400" dirty="0">
              <a:solidFill>
                <a:schemeClr val="tx2">
                  <a:lumMod val="90000"/>
                </a:schemeClr>
              </a:solidFill>
              <a:highlight>
                <a:srgbClr val="EAFF6A"/>
              </a:highlight>
            </a:endParaRPr>
          </a:p>
          <a:p>
            <a:pPr lvl="0">
              <a:buClr>
                <a:schemeClr val="dk1"/>
              </a:buClr>
              <a:buSzPts val="1800"/>
            </a:pPr>
            <a:endParaRPr lang="pt-BR" sz="2400" dirty="0">
              <a:solidFill>
                <a:schemeClr val="tx2">
                  <a:lumMod val="90000"/>
                </a:schemeClr>
              </a:solidFill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Por exemplo, o 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pseudo-elemento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pt-BR" sz="2400" b="1" dirty="0">
                <a:solidFill>
                  <a:schemeClr val="bg1"/>
                </a:solidFill>
              </a:rPr>
              <a:t>::</a:t>
            </a:r>
            <a:r>
              <a:rPr lang="pt-BR" sz="2400" b="1" dirty="0" err="1">
                <a:solidFill>
                  <a:schemeClr val="bg1"/>
                </a:solidFill>
              </a:rPr>
              <a:t>first-line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aplica o estilo apenas na primeira linha de um parágrafo.</a:t>
            </a:r>
            <a:endParaRPr lang="pt-BR" sz="2400" dirty="0">
              <a:solidFill>
                <a:schemeClr val="tx2">
                  <a:lumMod val="90000"/>
                </a:schemeClr>
              </a:solidFill>
              <a:highlight>
                <a:srgbClr val="EAFF6A"/>
              </a:highlight>
            </a:endParaRPr>
          </a:p>
          <a:p>
            <a:pPr lvl="0">
              <a:buSzPts val="1800"/>
            </a:pPr>
            <a:endParaRPr lang="pt-BR"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54E8D9F-EF57-F706-0E92-5D5F0401FAFD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" name="Google Shape;209;p20">
            <a:extLst>
              <a:ext uri="{FF2B5EF4-FFF2-40B4-BE49-F238E27FC236}">
                <a16:creationId xmlns:a16="http://schemas.microsoft.com/office/drawing/2014/main" id="{9983D56C-1404-1562-06CC-C666B621A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023003"/>
              </p:ext>
            </p:extLst>
          </p:nvPr>
        </p:nvGraphicFramePr>
        <p:xfrm>
          <a:off x="3661097" y="4707406"/>
          <a:ext cx="4655175" cy="141732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65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seletor</a:t>
                      </a:r>
                      <a:r>
                        <a:rPr lang="pt-BR" sz="24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pseudoelemento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propriedade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i="1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461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5AAE-B682-AA04-11BA-6C142932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DF9083B-43D9-7FC8-3619-35468C1C2B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4CF85B5-E21B-D610-FBA9-68A247EC743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20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2F539C-CB64-160E-1B29-06192C72A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1358B99-8DE9-F025-7CFD-8B7D3411F0C3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9AF72EB4-432F-DA03-EB04-6F2CEA88240F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800FEB9B-5FD9-8777-4D33-89BA86304637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B609393C-C446-7478-4CBF-11D1271E414C}"/>
              </a:ext>
            </a:extLst>
          </p:cNvPr>
          <p:cNvSpPr txBox="1"/>
          <p:nvPr/>
        </p:nvSpPr>
        <p:spPr>
          <a:xfrm>
            <a:off x="783272" y="3161030"/>
            <a:ext cx="10625455" cy="143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o </a:t>
            </a:r>
            <a:r>
              <a:rPr lang="pt-BR" sz="2400" b="1" dirty="0" err="1">
                <a:solidFill>
                  <a:srgbClr val="ED145B"/>
                </a:solidFill>
              </a:rPr>
              <a:t>placeholder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de um elemento.</a:t>
            </a:r>
          </a:p>
          <a:p>
            <a:pPr marL="114300" algn="just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Ou seja, o texto que aparece dentro do campo no formulário e descreve ao usuário o valor esperado. (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Ex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: “</a:t>
            </a:r>
            <a:r>
              <a:rPr lang="pt-BR" sz="2400" i="1" dirty="0">
                <a:solidFill>
                  <a:schemeClr val="tx2">
                    <a:lumMod val="90000"/>
                  </a:schemeClr>
                </a:solidFill>
              </a:rPr>
              <a:t>Digite seu nome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”)</a:t>
            </a:r>
          </a:p>
        </p:txBody>
      </p:sp>
      <p:graphicFrame>
        <p:nvGraphicFramePr>
          <p:cNvPr id="5" name="Google Shape;218;p21">
            <a:extLst>
              <a:ext uri="{FF2B5EF4-FFF2-40B4-BE49-F238E27FC236}">
                <a16:creationId xmlns:a16="http://schemas.microsoft.com/office/drawing/2014/main" id="{96A47351-2915-5786-0020-993A3024F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5980566"/>
              </p:ext>
            </p:extLst>
          </p:nvPr>
        </p:nvGraphicFramePr>
        <p:xfrm>
          <a:off x="4255349" y="4811714"/>
          <a:ext cx="36813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1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placeholder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yellow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081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55FB-CF7F-261C-8F6F-AC64C757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DE713B7-A93D-4E8E-9C92-CB37C4DDA9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8733BB9-3C59-B9BD-913A-4D42D5D7B2D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0DF8A01-0860-23D2-DEF1-5CF341BFF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DEC6381-2EEA-A45B-77E2-7BE0D45DEC1C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92C6C37A-4602-F79E-44D0-02C07B35B4CB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F963F7C5-612D-1778-4203-718B42A24BB6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first-letter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A51297D0-1AA8-332A-9759-733B8528C423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a </a:t>
            </a:r>
            <a:r>
              <a:rPr lang="pt-BR" sz="2400" b="1" dirty="0">
                <a:solidFill>
                  <a:srgbClr val="ED145B"/>
                </a:solidFill>
              </a:rPr>
              <a:t>primeira letra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da primeira linha de um elemento.</a:t>
            </a:r>
          </a:p>
        </p:txBody>
      </p:sp>
      <p:graphicFrame>
        <p:nvGraphicFramePr>
          <p:cNvPr id="4" name="Google Shape;228;p22">
            <a:extLst>
              <a:ext uri="{FF2B5EF4-FFF2-40B4-BE49-F238E27FC236}">
                <a16:creationId xmlns:a16="http://schemas.microsoft.com/office/drawing/2014/main" id="{FE944FF8-BFC5-3FF2-0889-3568B9497B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275631"/>
              </p:ext>
            </p:extLst>
          </p:nvPr>
        </p:nvGraphicFramePr>
        <p:xfrm>
          <a:off x="3367725" y="4257675"/>
          <a:ext cx="5354950" cy="170180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35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first-letter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text-transform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uppercase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/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200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70B6-8C17-EDC8-1134-40AA5A56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E0EC769-364B-2D5C-BD79-5A2DD7CAD1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3CFF7B8-25CD-2AD6-F07E-73F7744C387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22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3E4572-F233-8BD7-3D92-BCED64B5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5BEB752-1312-D4FE-6CB8-A68F8FD75790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0F3A88EA-E1D2-7013-CE00-A6E53CEF8CE7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EEB16FE7-B351-59EE-F730-7FE109023723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first-line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8BF09E09-E7A2-6C3A-9B44-D3DDB67F380C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a </a:t>
            </a:r>
            <a:r>
              <a:rPr lang="pt-BR" sz="2400" b="1" dirty="0">
                <a:solidFill>
                  <a:srgbClr val="ED145B"/>
                </a:solidFill>
              </a:rPr>
              <a:t>primeira linha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de um elemento.</a:t>
            </a:r>
          </a:p>
        </p:txBody>
      </p:sp>
      <p:graphicFrame>
        <p:nvGraphicFramePr>
          <p:cNvPr id="5" name="Google Shape;237;p23">
            <a:extLst>
              <a:ext uri="{FF2B5EF4-FFF2-40B4-BE49-F238E27FC236}">
                <a16:creationId xmlns:a16="http://schemas.microsoft.com/office/drawing/2014/main" id="{115C664C-94FD-8ADE-25D2-840C200A8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565184"/>
              </p:ext>
            </p:extLst>
          </p:nvPr>
        </p:nvGraphicFramePr>
        <p:xfrm>
          <a:off x="4183032" y="4289265"/>
          <a:ext cx="36813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1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first-line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blue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/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302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B73-C128-69AE-556A-9EB0176F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830CFCF-975E-032F-0588-663F10EAD6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720A659-4D08-9236-8BA2-8E697561DC1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23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50D977-77E7-7E06-07A0-7058B0A9E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B38BAC7-49A8-CDD4-05C4-C3389CDFE3FD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F1CB49AB-0FDA-6B3C-84BF-5AEAA250EEB5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1661CAB7-C3D1-19AD-B17B-B3391B29710B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57F76A9D-AC7C-D66E-307C-D57D41F5164E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um </a:t>
            </a:r>
            <a:r>
              <a:rPr lang="pt-BR" sz="2400" b="1" dirty="0">
                <a:solidFill>
                  <a:srgbClr val="ED145B"/>
                </a:solidFill>
              </a:rPr>
              <a:t>elemento selecionado 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com um mouse, por um usuário.</a:t>
            </a:r>
          </a:p>
        </p:txBody>
      </p:sp>
      <p:graphicFrame>
        <p:nvGraphicFramePr>
          <p:cNvPr id="4" name="Google Shape;246;p24">
            <a:extLst>
              <a:ext uri="{FF2B5EF4-FFF2-40B4-BE49-F238E27FC236}">
                <a16:creationId xmlns:a16="http://schemas.microsoft.com/office/drawing/2014/main" id="{5CA4648D-C677-C992-DAA9-AE9A4A37B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594867"/>
              </p:ext>
            </p:extLst>
          </p:nvPr>
        </p:nvGraphicFramePr>
        <p:xfrm>
          <a:off x="3691887" y="4314825"/>
          <a:ext cx="4706625" cy="164465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0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selection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yellow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50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CE8A-4934-7A8C-AA17-7D29996E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6A6ED6A-29A6-E3CC-39E1-A847792BB2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1197DE2-ACB5-B904-9FFF-231D217CEEA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24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8E7BB2-C5FE-2BB4-42EC-04957D08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E9B5A0E-B666-0AF2-91D4-B2BC4D59B976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400DFC72-F466-FFBE-B086-567188187BCD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D26A30F2-8D13-22BF-5527-4C39491A8600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marker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F3931D22-4B55-DE67-3555-09C78CED618F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</a:t>
            </a:r>
            <a:r>
              <a:rPr lang="pt-BR" sz="2400" b="1" dirty="0">
                <a:solidFill>
                  <a:srgbClr val="ED145B"/>
                </a:solidFill>
              </a:rPr>
              <a:t>os marcadores dos itens de lista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(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Ex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: 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bullet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points).</a:t>
            </a:r>
          </a:p>
        </p:txBody>
      </p:sp>
      <p:graphicFrame>
        <p:nvGraphicFramePr>
          <p:cNvPr id="4" name="Google Shape;255;p25">
            <a:extLst>
              <a:ext uri="{FF2B5EF4-FFF2-40B4-BE49-F238E27FC236}">
                <a16:creationId xmlns:a16="http://schemas.microsoft.com/office/drawing/2014/main" id="{4CB6AA3C-CACC-F503-7E1D-01D9C4F49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6043486"/>
              </p:ext>
            </p:extLst>
          </p:nvPr>
        </p:nvGraphicFramePr>
        <p:xfrm>
          <a:off x="4183032" y="4144326"/>
          <a:ext cx="3681300" cy="159004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6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marker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font-size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723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>
            <a:spLocks noGrp="1"/>
          </p:cNvSpPr>
          <p:nvPr>
            <p:ph type="title"/>
          </p:nvPr>
        </p:nvSpPr>
        <p:spPr>
          <a:xfrm>
            <a:off x="838200" y="38798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Para Praticar!</a:t>
            </a:r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911860" y="1628775"/>
            <a:ext cx="10227310" cy="449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da atividade. 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Instruções: Crie alguns elementos usando as tags HTML e insira nesses elementos as pseudo-classes que aprendemos: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first-letter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first-line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68" name="Google Shape;268;p27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911860" y="1700530"/>
            <a:ext cx="10133965" cy="409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Documentação de Pseudo-classes</a:t>
            </a:r>
            <a:b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2800" b="0" i="0" u="sng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https://developer.mozilla.org/pt-BR/docs/Web/CSS/Pseudo-classes</a:t>
            </a: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Documentação de Pseudo-elementos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2800" b="0" i="0" u="sng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https://developer.mozilla.org/pt-BR/docs/Web/CSS/Pseudo-elements</a:t>
            </a:r>
            <a:r>
              <a:rPr lang="pt-BR" sz="28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Copyright © </a:t>
            </a:r>
            <a:fld id="{8CD05165-DC8D-41C3-BEAD-F21174D5DE73}" type="datetimeyyyy">
              <a:rPr lang="pt-BR" smtClean="0">
                <a:latin typeface="Arial"/>
                <a:ea typeface="Arial"/>
                <a:cs typeface="Arial"/>
                <a:sym typeface="Arial"/>
              </a:rPr>
              <a:t>2026</a:t>
            </a:fld>
            <a:br>
              <a:rPr lang="pt-BR" dirty="0">
                <a:latin typeface="Arial"/>
                <a:ea typeface="Arial"/>
                <a:cs typeface="Arial"/>
                <a:sym typeface="Arial"/>
              </a:rPr>
            </a:br>
            <a:r>
              <a:rPr lang="pt-BR" dirty="0"/>
              <a:t>Prof. Lucas Sousa</a:t>
            </a:r>
            <a:endParaRPr dirty="0"/>
          </a:p>
        </p:txBody>
      </p:sp>
      <p:sp>
        <p:nvSpPr>
          <p:cNvPr id="275" name="Google Shape;275;p28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1323</Words>
  <Application>Microsoft Office PowerPoint</Application>
  <PresentationFormat>Widescreen</PresentationFormat>
  <Paragraphs>253</Paragraphs>
  <Slides>27</Slides>
  <Notes>9</Notes>
  <HiddenSlides>4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Consolas</vt:lpstr>
      <vt:lpstr>DM Sans</vt:lpstr>
      <vt:lpstr>Noto Sans Symbols</vt:lpstr>
      <vt:lpstr>Personalizar design</vt:lpstr>
      <vt:lpstr>Apresentação do PowerPoint</vt:lpstr>
      <vt:lpstr>Pseudo-classes e Pseudo-elementos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Para Praticar!</vt:lpstr>
      <vt:lpstr>Apresentação do PowerPoint</vt:lpstr>
      <vt:lpstr>Apresentação do PowerPoint</vt:lpstr>
      <vt:lpstr>Apresentação do PowerPoint</vt:lpstr>
      <vt:lpstr>Para Praticar!</vt:lpstr>
      <vt:lpstr>Apresentação do PowerPoint</vt:lpstr>
      <vt:lpstr>Apresentação do PowerPoint</vt:lpstr>
      <vt:lpstr>Apresentação do PowerPoint</vt:lpstr>
      <vt:lpstr>Apresentação do PowerPoint</vt:lpstr>
      <vt:lpstr>Para Praticar!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Para Praticar!</vt:lpstr>
      <vt:lpstr>Referências:</vt:lpstr>
      <vt:lpstr>Copyright © 2026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Allen Fernando Oberleitner Lima</dc:creator>
  <cp:lastModifiedBy>Cyntia Sayuri</cp:lastModifiedBy>
  <cp:revision>6</cp:revision>
  <dcterms:created xsi:type="dcterms:W3CDTF">2024-03-15T13:51:00Z</dcterms:created>
  <dcterms:modified xsi:type="dcterms:W3CDTF">2026-04-23T01:39:18Z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